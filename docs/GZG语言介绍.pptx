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GZG</c:v>
                </c:pt>
              </c:strCache>
            </c:strRef>
          </c:tx>
          <c:spPr>
            <a:solidFill>
              <a:srgbClr val="5B95F7"/>
            </a:solidFill>
          </c:spPr>
          <c:cat>
            <c:strRef>
              <c:f>Sheet1!$A$2:$A$10</c:f>
              <c:strCache>
                <c:ptCount val="9"/>
                <c:pt idx="0">
                  <c:v>closure</c:v>
                </c:pt>
                <c:pt idx="1">
                  <c:v>fib</c:v>
                </c:pt>
                <c:pt idx="2">
                  <c:v>loop</c:v>
                </c:pt>
                <c:pt idx="3">
                  <c:v>methods</c:v>
                </c:pt>
                <c:pt idx="4">
                  <c:v>nbody</c:v>
                </c:pt>
                <c:pt idx="5">
                  <c:v>quicksort</c:v>
                </c:pt>
                <c:pt idx="6">
                  <c:v>sieve</c:v>
                </c:pt>
                <c:pt idx="7">
                  <c:v>strings</c:v>
                </c:pt>
                <c:pt idx="8">
                  <c:v>wordfreq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0.201</c:v>
                </c:pt>
                <c:pt idx="1">
                  <c:v>0.251</c:v>
                </c:pt>
                <c:pt idx="2">
                  <c:v>0.15</c:v>
                </c:pt>
                <c:pt idx="3">
                  <c:v>0.119</c:v>
                </c:pt>
                <c:pt idx="4">
                  <c:v>0.359</c:v>
                </c:pt>
                <c:pt idx="5">
                  <c:v>0.365</c:v>
                </c:pt>
                <c:pt idx="6">
                  <c:v>0.508</c:v>
                </c:pt>
                <c:pt idx="7">
                  <c:v>0.612</c:v>
                </c:pt>
                <c:pt idx="8">
                  <c:v>0.212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Python</c:v>
                </c:pt>
              </c:strCache>
            </c:strRef>
          </c:tx>
          <c:spPr>
            <a:solidFill>
              <a:srgbClr val="F2A65A"/>
            </a:solidFill>
          </c:spPr>
          <c:cat>
            <c:strRef>
              <c:f>Sheet1!$A$2:$A$10</c:f>
              <c:strCache>
                <c:ptCount val="9"/>
                <c:pt idx="0">
                  <c:v>closure</c:v>
                </c:pt>
                <c:pt idx="1">
                  <c:v>fib</c:v>
                </c:pt>
                <c:pt idx="2">
                  <c:v>loop</c:v>
                </c:pt>
                <c:pt idx="3">
                  <c:v>methods</c:v>
                </c:pt>
                <c:pt idx="4">
                  <c:v>nbody</c:v>
                </c:pt>
                <c:pt idx="5">
                  <c:v>quicksort</c:v>
                </c:pt>
                <c:pt idx="6">
                  <c:v>sieve</c:v>
                </c:pt>
                <c:pt idx="7">
                  <c:v>strings</c:v>
                </c:pt>
                <c:pt idx="8">
                  <c:v>wordfreq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0.278</c:v>
                </c:pt>
                <c:pt idx="1">
                  <c:v>0.348</c:v>
                </c:pt>
                <c:pt idx="2">
                  <c:v>0.474</c:v>
                </c:pt>
                <c:pt idx="3">
                  <c:v>0.195</c:v>
                </c:pt>
                <c:pt idx="4">
                  <c:v>0.562</c:v>
                </c:pt>
                <c:pt idx="5">
                  <c:v>0.619</c:v>
                </c:pt>
                <c:pt idx="6">
                  <c:v>1.136</c:v>
                </c:pt>
                <c:pt idx="7">
                  <c:v>0.169</c:v>
                </c:pt>
                <c:pt idx="8">
                  <c:v>0.284</c:v>
                </c:pt>
              </c:numCache>
            </c:numRef>
          </c:val>
        </c:ser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A66"/>
            </a:solidFill>
          </a:ln>
        </c:spPr>
        <c:txPr>
          <a:bodyPr/>
          <a:lstStyle/>
          <a:p>
            <a:pPr>
              <a:defRPr sz="1100">
                <a:solidFill>
                  <a:srgbClr val="93A3C4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1C2A50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100" b="0" i="0">
                    <a:solidFill>
                      <a:srgbClr val="93A3C4"/>
                    </a:solidFill>
                    <a:latin typeface="Microsoft YaHei"/>
                    <a:ea typeface="Microsoft YaHei"/>
                    <a:cs typeface="Microsoft YaHei"/>
                  </a:rPr>
                  <a:t>耗时（秒，越低越好）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2A3A66"/>
            </a:solidFill>
          </a:ln>
        </c:spPr>
        <c:txPr>
          <a:bodyPr/>
          <a:lstStyle/>
          <a:p>
            <a:pPr>
              <a:defRPr sz="1100">
                <a:solidFill>
                  <a:srgbClr val="93A3C4"/>
                </a:solidFill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>
              <a:solidFill>
                <a:srgbClr val="E6ECF8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4088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9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GZG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Build a language,</a:t>
            </a:r>
          </a:p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prove it 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2240280"/>
            <a:ext cx="12191695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600" b="0" i="0" spc="240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GZG 语言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3429000"/>
            <a:ext cx="121916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0" i="0" spc="300">
                <a:solidFill>
                  <a:srgbClr val="A9CBFF"/>
                </a:solidFill>
                <a:latin typeface="Georgia"/>
                <a:ea typeface="Georgia"/>
                <a:cs typeface="Georgia"/>
              </a:rPr>
              <a:t>A bilingual scripting language, built from scratch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18407" y="5440680"/>
            <a:ext cx="4754880" cy="900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4846320"/>
            <a:ext cx="1219169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0" i="0" spc="60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设计 · 实现 · 测试 · 性能 · AI 辅助开发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56692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 i="0" spc="20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郭志罡 · 2024210937 · 程序设计实践</a:t>
            </a:r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" dur="1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2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840"/>
                            </p:stCondLst>
                            <p:childTnLst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840"/>
                            </p:stCondLst>
                            <p:childTnLst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260"/>
                            </p:stCondLst>
                            <p:childTnLst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4088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9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GZG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Build a language,</a:t>
            </a:r>
          </a:p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prove it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820095" cy="6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Microsoft YaHei"/>
                <a:ea typeface="Microsoft YaHei"/>
                <a:cs typeface="Microsoft YaHei"/>
              </a:rPr>
              <a:t>GZG · 郭志罡 · 程序设计实践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70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02 /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961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 spc="300">
                <a:solidFill>
                  <a:srgbClr val="E2554F"/>
                </a:solidFill>
                <a:latin typeface="Segoe UI"/>
                <a:ea typeface="Segoe UI"/>
                <a:cs typeface="Segoe UI"/>
              </a:rPr>
              <a:t>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1430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 spc="20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一页看懂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470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作业要求的六项交付，用数字说话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331720"/>
            <a:ext cx="2594610" cy="2450592"/>
          </a:xfrm>
          <a:prstGeom prst="roundRect">
            <a:avLst>
              <a:gd name="adj" fmla="val 5000"/>
            </a:avLst>
          </a:prstGeom>
          <a:solidFill>
            <a:srgbClr val="FFFFFF">
              <a:alpha val="5500"/>
            </a:srgbClr>
          </a:solidFill>
          <a:ln w="9525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2331720"/>
            <a:ext cx="548640" cy="30000"/>
          </a:xfrm>
          <a:prstGeom prst="rect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651760"/>
            <a:ext cx="204597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000" b="0" i="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7,897</a:t>
            </a:r>
            <a:r>
              <a:rPr sz="18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 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49040"/>
            <a:ext cx="20459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C99 解释器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206239"/>
            <a:ext cx="204597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单遍编译 + 字节码虚拟机 + 标记清除 GC，零依赖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90138" y="2331720"/>
            <a:ext cx="2594610" cy="2450592"/>
          </a:xfrm>
          <a:prstGeom prst="roundRect">
            <a:avLst>
              <a:gd name="adj" fmla="val 5000"/>
            </a:avLst>
          </a:prstGeom>
          <a:solidFill>
            <a:srgbClr val="FFFFFF">
              <a:alpha val="5500"/>
            </a:srgbClr>
          </a:solidFill>
          <a:ln w="9525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18738" y="2331720"/>
            <a:ext cx="548640" cy="30000"/>
          </a:xfrm>
          <a:prstGeom prst="rect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4458" y="2651760"/>
            <a:ext cx="204597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000" b="0" i="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327</a:t>
            </a:r>
            <a:r>
              <a:rPr sz="18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 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64458" y="3749040"/>
            <a:ext cx="20459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黑盒测试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64458" y="4206239"/>
            <a:ext cx="204597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全部用 GZG 编写，一个命令运行；行覆盖率 94%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4476" y="2331720"/>
            <a:ext cx="2594610" cy="2450592"/>
          </a:xfrm>
          <a:prstGeom prst="roundRect">
            <a:avLst>
              <a:gd name="adj" fmla="val 5000"/>
            </a:avLst>
          </a:prstGeom>
          <a:solidFill>
            <a:srgbClr val="FFFFFF">
              <a:alpha val="5500"/>
            </a:srgbClr>
          </a:solidFill>
          <a:ln w="9525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23076" y="2331720"/>
            <a:ext cx="548640" cy="30000"/>
          </a:xfrm>
          <a:prstGeom prst="rect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68796" y="2651760"/>
            <a:ext cx="204597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000" b="0" i="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1.41</a:t>
            </a:r>
            <a:r>
              <a:rPr sz="18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 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68796" y="3749040"/>
            <a:ext cx="20459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比 CPython 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68796" y="4206239"/>
            <a:ext cx="204597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9 组同功能程序的几何平均，计时驱动也用 GZG 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98814" y="2331720"/>
            <a:ext cx="2594610" cy="2450592"/>
          </a:xfrm>
          <a:prstGeom prst="roundRect">
            <a:avLst>
              <a:gd name="adj" fmla="val 5000"/>
            </a:avLst>
          </a:prstGeom>
          <a:solidFill>
            <a:srgbClr val="FFFFFF">
              <a:alpha val="5500"/>
            </a:srgbClr>
          </a:solidFill>
          <a:ln w="9525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27414" y="2331720"/>
            <a:ext cx="548640" cy="30000"/>
          </a:xfrm>
          <a:prstGeom prst="rect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73134" y="2651760"/>
            <a:ext cx="204597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5000" b="0" i="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925</a:t>
            </a:r>
            <a:r>
              <a:rPr sz="18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 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73134" y="3749040"/>
            <a:ext cx="204597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Agent 写的 2048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73134" y="4206239"/>
            <a:ext cx="204597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只读 Skill 文档开发，AI 6 局全部达成 2048</a:t>
            </a:r>
          </a:p>
        </p:txBody>
      </p:sp>
      <p:sp>
        <p:nvSpPr>
          <p:cNvPr id="35" name="Oval 34"/>
          <p:cNvSpPr/>
          <p:nvPr/>
        </p:nvSpPr>
        <p:spPr>
          <a:xfrm>
            <a:off x="685800" y="5010150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892040"/>
            <a:ext cx="10479024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交付物</a:t>
            </a:r>
            <a:r>
              <a:rPr sz="15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语法规则 · 解释器源码 · 测试集 · 性能报告 · 开发指南与 AI 文档 · 应用与开发记录 · Git 历史 · 本 PPT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" y="5654040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535930"/>
            <a:ext cx="10479024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关键原则</a:t>
            </a:r>
            <a:r>
              <a:rPr sz="15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被解释器执行的测试、性能程序和应用，全部使用 GZG 自己编写</a:t>
            </a:r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"/>
                            </p:stCondLst>
                            <p:childTnLst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70"/>
                            </p:stCondLst>
                            <p:childTnLst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40"/>
                            </p:stCondLst>
                            <p:childTnLst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40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10"/>
                            </p:stCondLst>
                            <p:childTnLst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10"/>
                            </p:stCondLst>
                            <p:childTnLst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10"/>
                            </p:stCondLst>
                            <p:childTnLst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80"/>
                            </p:stCondLst>
                            <p:childTnLst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80"/>
                            </p:stCondLst>
                            <p:childTnLst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50"/>
                            </p:stCondLst>
                            <p:childTnLst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50"/>
                            </p:stCondLst>
                            <p:childTnLst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850"/>
                            </p:stCondLst>
                            <p:childTnLst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20"/>
                            </p:stCondLst>
                            <p:childTnLst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20"/>
                            </p:stCondLst>
                            <p:childTnLst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190"/>
                            </p:stCondLst>
                            <p:childTnLst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190"/>
                            </p:stCondLst>
                            <p:childTnLst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190"/>
                            </p:stCondLst>
                            <p:childTnLst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360"/>
                            </p:stCondLst>
                            <p:childTnLst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360"/>
                            </p:stCondLst>
                            <p:childTnLst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530"/>
                            </p:stCondLst>
                            <p:childTnLst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30"/>
                            </p:stCondLst>
                            <p:childTnLst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530"/>
                            </p:stCondLst>
                            <p:childTnLst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530"/>
                            </p:stCondLst>
                            <p:childTnLst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4088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9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GZG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Build a language,</a:t>
            </a:r>
          </a:p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prove it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820095" cy="6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Microsoft YaHei"/>
                <a:ea typeface="Microsoft YaHei"/>
                <a:cs typeface="Microsoft YaHei"/>
              </a:rPr>
              <a:t>GZG · 郭志罡 · 程序设计实践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70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03 /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961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 spc="300">
                <a:solidFill>
                  <a:srgbClr val="E2554F"/>
                </a:solidFill>
                <a:latin typeface="Segoe UI"/>
                <a:ea typeface="Segoe UI"/>
                <a:cs typeface="Segoe UI"/>
              </a:rPr>
              <a:t>01 ·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1430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 spc="20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设计目标与取舍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470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像 Python 一样好写，像 Rust/Go 一样严谨，对中文用户和 AI 友好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331720"/>
            <a:ext cx="10707624" cy="491490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2331720"/>
            <a:ext cx="1131991" cy="4914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6975" y="2331720"/>
            <a:ext cx="4562589" cy="4914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做法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9021" y="2331720"/>
            <a:ext cx="4354674" cy="4914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取舍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817210"/>
            <a:ext cx="10707624" cy="9000"/>
          </a:xfrm>
          <a:prstGeom prst="rect">
            <a:avLst/>
          </a:prstGeom>
          <a:solidFill>
            <a:srgbClr val="E2554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2823210"/>
            <a:ext cx="1131991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好写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6975" y="2823210"/>
            <a:ext cx="456258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换行即语句结束、动态类型、字符串插值、Python 式真值与整除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9021" y="2823210"/>
            <a:ext cx="435467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用 { } 分块：复制粘贴、AI 生成都不怕缩进错乱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548730"/>
            <a:ext cx="10707624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554730"/>
            <a:ext cx="1131991" cy="4914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早报错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6975" y="3554730"/>
            <a:ext cx="4562589" cy="4914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变量必须先 let；结构体字段封闭；字典缺键直接报错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29021" y="3554730"/>
            <a:ext cx="4354674" cy="4914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比 Python/JS 严格，但拼写错误第一次运行就暴露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040220"/>
            <a:ext cx="10707624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8" y="4046220"/>
            <a:ext cx="1131991" cy="4914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中文友好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46975" y="4046220"/>
            <a:ext cx="4562589" cy="4914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中英双语关键字、中文错误信息、全角符号检测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29021" y="4046220"/>
            <a:ext cx="4354674" cy="4914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中文关键字与标识符之间要空格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531710"/>
            <a:ext cx="10707624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5528" y="4537710"/>
            <a:ext cx="1131991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 AI 友好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46975" y="4537710"/>
            <a:ext cx="456258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“你是不是想写 xxx”建议；append→push 等跨语言对照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29021" y="4537710"/>
            <a:ext cx="435467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额外维护一张对照表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5263230"/>
            <a:ext cx="10707624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5528" y="5269230"/>
            <a:ext cx="1131991" cy="4914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够快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6975" y="5269230"/>
            <a:ext cx="4562589" cy="4914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单遍编译成字节码；computed goto；局部变量用栈槽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29021" y="5269230"/>
            <a:ext cx="4354674" cy="4914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不做 JIT，保持实现讲得清楚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5800" y="5754720"/>
            <a:ext cx="10707624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"/>
                            </p:stCondLst>
                            <p:childTnLst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70"/>
                            </p:stCondLst>
                            <p:childTnLst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0"/>
                            </p:stCondLst>
                            <p:childTnLst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0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40"/>
                            </p:stCondLst>
                            <p:childTnLst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40"/>
                            </p:stCondLst>
                            <p:childTnLst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40"/>
                            </p:stCondLst>
                            <p:childTnLst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40"/>
                            </p:stCondLst>
                            <p:childTnLst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10"/>
                            </p:stCondLst>
                            <p:childTnLst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10"/>
                            </p:stCondLst>
                            <p:childTnLst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10"/>
                            </p:stCondLst>
                            <p:childTnLst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10"/>
                            </p:stCondLst>
                            <p:childTnLst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680"/>
                            </p:stCondLst>
                            <p:childTnLst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80"/>
                            </p:stCondLst>
                            <p:childTnLst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80"/>
                            </p:stCondLst>
                            <p:childTnLst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680"/>
                            </p:stCondLst>
                            <p:childTnLst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850"/>
                            </p:stCondLst>
                            <p:childTnLst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850"/>
                            </p:stCondLst>
                            <p:childTnLst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850"/>
                            </p:stCondLst>
                            <p:childTnLst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850"/>
                            </p:stCondLst>
                            <p:childTnLst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20"/>
                            </p:stCondLst>
                            <p:childTnLst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20"/>
                            </p:stCondLst>
                            <p:childTnLst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20"/>
                            </p:stCondLst>
                            <p:childTnLst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020"/>
                            </p:stCondLst>
                            <p:childTnLst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4088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9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GZG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Build a language,</a:t>
            </a:r>
          </a:p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prove it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820095" cy="6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Microsoft YaHei"/>
                <a:ea typeface="Microsoft YaHei"/>
                <a:cs typeface="Microsoft YaHei"/>
              </a:rPr>
              <a:t>GZG · 郭志罡 · 程序设计实践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70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04 /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961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 spc="300">
                <a:solidFill>
                  <a:srgbClr val="E2554F"/>
                </a:solidFill>
                <a:latin typeface="Segoe UI"/>
                <a:ea typeface="Segoe UI"/>
                <a:cs typeface="Segoe UI"/>
              </a:rPr>
              <a:t>02 · SYNTAX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1430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 spc="20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语法速览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470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一段代码看完主要语法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331720"/>
            <a:ext cx="6200394" cy="3730752"/>
          </a:xfrm>
          <a:prstGeom prst="roundRect">
            <a:avLst>
              <a:gd name="adj" fmla="val 3500"/>
            </a:avLst>
          </a:prstGeom>
          <a:solidFill>
            <a:srgbClr val="050A1E">
              <a:alpha val="78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2487168"/>
            <a:ext cx="100584" cy="100584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2487168"/>
            <a:ext cx="100584" cy="100584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4440" y="2487168"/>
            <a:ext cx="100584" cy="100584"/>
          </a:xfrm>
          <a:prstGeom prst="ellipse">
            <a:avLst/>
          </a:prstGeom>
          <a:solidFill>
            <a:srgbClr val="5DB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414016"/>
            <a:ext cx="510311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demo.gzg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788920"/>
            <a:ext cx="5788914" cy="3182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32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struct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Point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12000"/>
              </a:lnSpc>
            </a:pP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x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y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0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6D80AA"/>
                </a:solidFill>
                <a:latin typeface="Consolas"/>
                <a:ea typeface="Microsoft YaHei"/>
                <a:cs typeface="Consolas"/>
              </a:rPr>
              <a:t># 字段与默认值</a:t>
            </a:r>
          </a:p>
          <a:p>
            <a:pPr algn="l">
              <a:lnSpc>
                <a:spcPct val="112000"/>
              </a:lnSpc>
            </a:pP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fn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len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sqrt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932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self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.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x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*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*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2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+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self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.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y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*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*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2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fn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to_str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F4A07A"/>
                </a:solidFill>
                <a:latin typeface="Consolas"/>
                <a:ea typeface="Microsoft YaHei"/>
                <a:cs typeface="Consolas"/>
              </a:rPr>
              <a:t>"({self.x}, {self.y})"</a:t>
            </a:r>
          </a:p>
          <a:p>
            <a:pPr algn="l">
              <a:lnSpc>
                <a:spcPct val="112000"/>
              </a:lnSpc>
            </a:pP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}</a:t>
            </a:r>
          </a:p>
          <a:p>
            <a:pPr algn="l">
              <a:lnSpc>
                <a:spcPct val="112000"/>
              </a:lnSpc>
            </a:pPr>
            <a:r>
              <a:rPr sz="932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fn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scale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p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k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2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Point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p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.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x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*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k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p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.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y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*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k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sz="932" b="0" i="0">
                <a:solidFill>
                  <a:srgbClr val="E6ECF8"/>
                </a:solidFill>
                <a:latin typeface="Consolas"/>
                <a:ea typeface="Microsoft YaHei"/>
                <a:cs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32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let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pts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[</a:t>
            </a:r>
            <a:r>
              <a:rPr sz="932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Point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932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3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4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Point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y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: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1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x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: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2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]</a:t>
            </a:r>
          </a:p>
          <a:p>
            <a:pPr algn="l">
              <a:lnSpc>
                <a:spcPct val="112000"/>
              </a:lnSpc>
            </a:pPr>
            <a:r>
              <a:rPr sz="932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for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i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p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in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pts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12000"/>
              </a:lnSpc>
            </a:pP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print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932" b="0" i="0">
                <a:solidFill>
                  <a:srgbClr val="F4A07A"/>
                </a:solidFill>
                <a:latin typeface="Consolas"/>
                <a:ea typeface="Microsoft YaHei"/>
                <a:cs typeface="Consolas"/>
              </a:rPr>
              <a:t>"{i}: {p} 长度 {fmt(p.len(), 2)}"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}</a:t>
            </a:r>
          </a:p>
          <a:p>
            <a:pPr algn="l">
              <a:lnSpc>
                <a:spcPct val="112000"/>
              </a:lnSpc>
            </a:pPr>
            <a:r>
              <a:rPr sz="932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let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far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pts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.</a:t>
            </a:r>
            <a:r>
              <a:rPr sz="932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filter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932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fn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p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p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.</a:t>
            </a:r>
            <a:r>
              <a:rPr sz="932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len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3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sz="932" b="0" i="0">
                <a:solidFill>
                  <a:srgbClr val="E6ECF8"/>
                </a:solidFill>
                <a:latin typeface="Consolas"/>
                <a:ea typeface="Microsoft YaHei"/>
                <a:cs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932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try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12000"/>
              </a:lnSpc>
            </a:pP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print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{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name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: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F4A07A"/>
                </a:solidFill>
                <a:latin typeface="Consolas"/>
                <a:ea typeface="Microsoft YaHei"/>
                <a:cs typeface="Consolas"/>
              </a:rPr>
              <a:t>"GZG"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}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[</a:t>
            </a:r>
            <a:r>
              <a:rPr sz="932" b="0" i="0">
                <a:solidFill>
                  <a:srgbClr val="F4A07A"/>
                </a:solidFill>
                <a:latin typeface="Consolas"/>
                <a:ea typeface="Microsoft YaHei"/>
                <a:cs typeface="Consolas"/>
              </a:rPr>
              <a:t>"age"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]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}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catch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e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12000"/>
              </a:lnSpc>
            </a:pP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2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print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932" b="0" i="0">
                <a:solidFill>
                  <a:srgbClr val="F4A07A"/>
                </a:solidFill>
                <a:latin typeface="Consolas"/>
                <a:ea typeface="Microsoft YaHei"/>
                <a:cs typeface="Consolas"/>
              </a:rPr>
              <a:t>"出错：{e}"</a:t>
            </a: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sz="93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}</a:t>
            </a:r>
          </a:p>
        </p:txBody>
      </p:sp>
      <p:sp>
        <p:nvSpPr>
          <p:cNvPr id="21" name="Oval 20"/>
          <p:cNvSpPr/>
          <p:nvPr/>
        </p:nvSpPr>
        <p:spPr>
          <a:xfrm>
            <a:off x="6995922" y="2449830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4522" y="2331720"/>
            <a:ext cx="416890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变量</a:t>
            </a:r>
            <a:r>
              <a:rPr sz="15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let 变量、const 常量，块作用域</a:t>
            </a:r>
          </a:p>
        </p:txBody>
      </p:sp>
      <p:sp>
        <p:nvSpPr>
          <p:cNvPr id="23" name="Oval 22"/>
          <p:cNvSpPr/>
          <p:nvPr/>
        </p:nvSpPr>
        <p:spPr>
          <a:xfrm>
            <a:off x="6995922" y="2830830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4522" y="2712720"/>
            <a:ext cx="416890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函数</a:t>
            </a:r>
            <a:r>
              <a:rPr sz="15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fn 定义，=&gt; 单表达式函数体</a:t>
            </a:r>
          </a:p>
        </p:txBody>
      </p:sp>
      <p:sp>
        <p:nvSpPr>
          <p:cNvPr id="25" name="Oval 24"/>
          <p:cNvSpPr/>
          <p:nvPr/>
        </p:nvSpPr>
        <p:spPr>
          <a:xfrm>
            <a:off x="6995922" y="3211830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4522" y="3093720"/>
            <a:ext cx="4168902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参数</a:t>
            </a:r>
            <a:r>
              <a:rPr sz="15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默认参数每次调用重新求值，支持命名参数</a:t>
            </a:r>
          </a:p>
        </p:txBody>
      </p:sp>
      <p:sp>
        <p:nvSpPr>
          <p:cNvPr id="27" name="Oval 26"/>
          <p:cNvSpPr/>
          <p:nvPr/>
        </p:nvSpPr>
        <p:spPr>
          <a:xfrm>
            <a:off x="6995922" y="3855720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4522" y="3737610"/>
            <a:ext cx="416890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循环</a:t>
            </a:r>
            <a:r>
              <a:rPr sz="15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for 遍历区间、数组、字符串、字典</a:t>
            </a:r>
          </a:p>
        </p:txBody>
      </p:sp>
      <p:sp>
        <p:nvSpPr>
          <p:cNvPr id="29" name="Oval 28"/>
          <p:cNvSpPr/>
          <p:nvPr/>
        </p:nvSpPr>
        <p:spPr>
          <a:xfrm>
            <a:off x="6995922" y="4236720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4522" y="4118610"/>
            <a:ext cx="416890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插值</a:t>
            </a:r>
            <a:r>
              <a:rPr sz="15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"{表达式}" 直接嵌入，可以嵌套</a:t>
            </a:r>
          </a:p>
        </p:txBody>
      </p:sp>
      <p:sp>
        <p:nvSpPr>
          <p:cNvPr id="31" name="Oval 30"/>
          <p:cNvSpPr/>
          <p:nvPr/>
        </p:nvSpPr>
        <p:spPr>
          <a:xfrm>
            <a:off x="6995922" y="4617720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4522" y="4499610"/>
            <a:ext cx="416890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异常</a:t>
            </a:r>
            <a:r>
              <a:rPr sz="15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try / catch / throw，可抛任意值</a:t>
            </a:r>
          </a:p>
        </p:txBody>
      </p:sp>
      <p:sp>
        <p:nvSpPr>
          <p:cNvPr id="33" name="Oval 32"/>
          <p:cNvSpPr/>
          <p:nvPr/>
        </p:nvSpPr>
        <p:spPr>
          <a:xfrm>
            <a:off x="6995922" y="4998720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4522" y="4880610"/>
            <a:ext cx="4168902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算术</a:t>
            </a:r>
            <a:r>
              <a:rPr sz="15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/ 总是浮点除法，// 向下取整</a:t>
            </a:r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"/>
                            </p:stCondLst>
                            <p:childTnLst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70"/>
                            </p:stCondLst>
                            <p:childTnLst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0"/>
                            </p:stCondLst>
                            <p:childTnLst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0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40"/>
                            </p:stCondLst>
                            <p:childTnLst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10"/>
                            </p:stCondLst>
                            <p:childTnLst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10"/>
                            </p:stCondLst>
                            <p:childTnLst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10"/>
                            </p:stCondLst>
                            <p:childTnLst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10"/>
                            </p:stCondLst>
                            <p:childTnLst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80"/>
                            </p:stCondLst>
                            <p:childTnLst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80"/>
                            </p:stCondLst>
                            <p:childTnLst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80"/>
                            </p:stCondLst>
                            <p:childTnLst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680"/>
                            </p:stCondLst>
                            <p:childTnLst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50"/>
                            </p:stCondLst>
                            <p:childTnLst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50"/>
                            </p:stCondLst>
                            <p:childTnLst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"/>
                            </p:stCondLst>
                            <p:childTnLst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850"/>
                            </p:stCondLst>
                            <p:childTnLst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20"/>
                            </p:stCondLst>
                            <p:childTnLst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20"/>
                            </p:stCondLst>
                            <p:childTnLst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4088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9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GZG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Build a language,</a:t>
            </a:r>
          </a:p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prove it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820095" cy="6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Microsoft YaHei"/>
                <a:ea typeface="Microsoft YaHei"/>
                <a:cs typeface="Microsoft YaHei"/>
              </a:rPr>
              <a:t>GZG · 郭志罡 · 程序设计实践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70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05 /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961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 spc="300">
                <a:solidFill>
                  <a:srgbClr val="E2554F"/>
                </a:solidFill>
                <a:latin typeface="Segoe UI"/>
                <a:ea typeface="Segoe UI"/>
                <a:cs typeface="Segoe UI"/>
              </a:rPr>
              <a:t>03 · 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1430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 spc="20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中英双语 + 会纠错的报错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470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关键字两套写法完全等价；报错给出位置、原因和修改建议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331720"/>
            <a:ext cx="5298948" cy="1810512"/>
          </a:xfrm>
          <a:prstGeom prst="roundRect">
            <a:avLst>
              <a:gd name="adj" fmla="val 3500"/>
            </a:avLst>
          </a:prstGeom>
          <a:solidFill>
            <a:srgbClr val="050A1E">
              <a:alpha val="78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2487168"/>
            <a:ext cx="100584" cy="100584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2487168"/>
            <a:ext cx="100584" cy="100584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4440" y="2487168"/>
            <a:ext cx="100584" cy="100584"/>
          </a:xfrm>
          <a:prstGeom prst="ellipse">
            <a:avLst/>
          </a:prstGeom>
          <a:solidFill>
            <a:srgbClr val="5DB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414016"/>
            <a:ext cx="42016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中文关键字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788920"/>
            <a:ext cx="4887468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94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结构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学生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12000"/>
              </a:lnSpc>
            </a:pP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姓名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分数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0</a:t>
            </a:r>
          </a:p>
          <a:p>
            <a:pPr algn="l">
              <a:lnSpc>
                <a:spcPct val="112000"/>
              </a:lnSpc>
            </a:pP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函数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及格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自身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.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分数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60</a:t>
            </a:r>
          </a:p>
          <a:p>
            <a:pPr algn="l">
              <a:lnSpc>
                <a:spcPct val="112000"/>
              </a:lnSpc>
            </a:pP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}</a:t>
            </a:r>
          </a:p>
          <a:p>
            <a:pPr algn="l">
              <a:lnSpc>
                <a:spcPct val="112000"/>
              </a:lnSpc>
            </a:pPr>
            <a:r>
              <a:rPr sz="794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令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名单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[</a:t>
            </a:r>
            <a:r>
              <a:rPr sz="794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学生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794" b="0" i="0">
                <a:solidFill>
                  <a:srgbClr val="F4A07A"/>
                </a:solidFill>
                <a:latin typeface="Consolas"/>
                <a:ea typeface="Microsoft YaHei"/>
                <a:cs typeface="Consolas"/>
              </a:rPr>
              <a:t>"小红"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95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学生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794" b="0" i="0">
                <a:solidFill>
                  <a:srgbClr val="F4A07A"/>
                </a:solidFill>
                <a:latin typeface="Consolas"/>
                <a:ea typeface="Microsoft YaHei"/>
                <a:cs typeface="Consolas"/>
              </a:rPr>
              <a:t>"小明"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52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]</a:t>
            </a:r>
          </a:p>
          <a:p>
            <a:pPr algn="l">
              <a:lnSpc>
                <a:spcPct val="112000"/>
              </a:lnSpc>
            </a:pPr>
            <a:r>
              <a:rPr sz="794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遍历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生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在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名单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12000"/>
              </a:lnSpc>
            </a:pP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如果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非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生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.</a:t>
            </a:r>
            <a:r>
              <a:rPr sz="794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及格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{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打印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794" b="0" i="0">
                <a:solidFill>
                  <a:srgbClr val="F4A07A"/>
                </a:solidFill>
                <a:latin typeface="Consolas"/>
                <a:ea typeface="Microsoft YaHei"/>
                <a:cs typeface="Consolas"/>
              </a:rPr>
              <a:t>"{生.姓名} 需补考"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}</a:t>
            </a:r>
          </a:p>
          <a:p>
            <a:pPr algn="l">
              <a:lnSpc>
                <a:spcPct val="112000"/>
              </a:lnSpc>
            </a:pP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4476" y="2331720"/>
            <a:ext cx="5298948" cy="1810512"/>
          </a:xfrm>
          <a:prstGeom prst="roundRect">
            <a:avLst>
              <a:gd name="adj" fmla="val 3500"/>
            </a:avLst>
          </a:prstGeom>
          <a:solidFill>
            <a:srgbClr val="050A1E">
              <a:alpha val="78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77356" y="2487168"/>
            <a:ext cx="100584" cy="100584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60236" y="2487168"/>
            <a:ext cx="100584" cy="100584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43116" y="2487168"/>
            <a:ext cx="100584" cy="100584"/>
          </a:xfrm>
          <a:prstGeom prst="ellipse">
            <a:avLst/>
          </a:prstGeom>
          <a:solidFill>
            <a:srgbClr val="5DB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3156" y="2414016"/>
            <a:ext cx="42016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报错示例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508" y="2788920"/>
            <a:ext cx="4887468" cy="1261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94" b="0" i="0">
                <a:solidFill>
                  <a:srgbClr val="E2554F"/>
                </a:solidFill>
                <a:latin typeface="Consolas"/>
                <a:ea typeface="Microsoft YaHei"/>
                <a:cs typeface="Consolas"/>
              </a:rPr>
              <a:t>demo.gzg:2:11: 语法错误: 实参列表缺少 ')'（在 'b' 处）</a:t>
            </a:r>
          </a:p>
          <a:p>
            <a:pPr algn="l">
              <a:lnSpc>
                <a:spcPct val="112000"/>
              </a:lnSpc>
            </a:pP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 2 | print(a b)</a:t>
            </a:r>
          </a:p>
          <a:p>
            <a:pPr algn="l">
              <a:lnSpc>
                <a:spcPct val="112000"/>
              </a:lnSpc>
            </a:pP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   |         ^</a:t>
            </a:r>
          </a:p>
          <a:p>
            <a:pPr algn="l">
              <a:lnSpc>
                <a:spcPct val="112000"/>
              </a:lnSpc>
            </a:pPr>
            <a:r>
              <a:rPr sz="794" b="0" i="0">
                <a:solidFill>
                  <a:srgbClr val="E2554F"/>
                </a:solidFill>
                <a:latin typeface="Consolas"/>
                <a:ea typeface="Microsoft YaHei"/>
                <a:cs typeface="Consolas"/>
              </a:rPr>
              <a:t>运行错误: array 类型没有方法 'append'，</a:t>
            </a:r>
          </a:p>
          <a:p>
            <a:pPr algn="l">
              <a:lnSpc>
                <a:spcPct val="112000"/>
              </a:lnSpc>
            </a:pPr>
            <a:r>
              <a:rPr sz="794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          你是不是想写 'push'？</a:t>
            </a:r>
          </a:p>
          <a:p>
            <a:pPr algn="l">
              <a:lnSpc>
                <a:spcPct val="112000"/>
              </a:lnSpc>
            </a:pP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调用栈（最近的调用在最后）:</a:t>
            </a:r>
          </a:p>
          <a:p>
            <a:pPr algn="l">
              <a:lnSpc>
                <a:spcPct val="112000"/>
              </a:lnSpc>
            </a:pP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demo.gzg:7  &lt;主程序&gt;</a:t>
            </a:r>
          </a:p>
          <a:p>
            <a:pPr algn="l">
              <a:lnSpc>
                <a:spcPct val="112000"/>
              </a:lnSpc>
            </a:pPr>
            <a:r>
              <a:rPr sz="794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demo.gzg:3  add_item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" y="4362196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51960"/>
            <a:ext cx="10479024" cy="2453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双语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25 个关键字都有中文写法（如果 / 否则 / 遍历 / 函数 / 结构 / 匹配 …），常用内建函数有中文别名</a:t>
            </a:r>
          </a:p>
        </p:txBody>
      </p:sp>
      <p:sp>
        <p:nvSpPr>
          <p:cNvPr id="29" name="Oval 28"/>
          <p:cNvSpPr/>
          <p:nvPr/>
        </p:nvSpPr>
        <p:spPr>
          <a:xfrm>
            <a:off x="685800" y="4717795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607559"/>
            <a:ext cx="10479024" cy="2453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拼写建议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找不到变量、字段、方法、参数名时，用编辑距离找最接近的候选（相邻字母换位也算一次）</a:t>
            </a:r>
          </a:p>
        </p:txBody>
      </p:sp>
      <p:sp>
        <p:nvSpPr>
          <p:cNvPr id="31" name="Oval 30"/>
          <p:cNvSpPr/>
          <p:nvPr/>
        </p:nvSpPr>
        <p:spPr>
          <a:xfrm>
            <a:off x="685800" y="5073394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963158"/>
            <a:ext cx="10479024" cy="2453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跨语言对照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append→push、startswith→starts_with、None→nil、a if c else b→c ? a : b</a:t>
            </a:r>
          </a:p>
        </p:txBody>
      </p:sp>
      <p:sp>
        <p:nvSpPr>
          <p:cNvPr id="33" name="Oval 32"/>
          <p:cNvSpPr/>
          <p:nvPr/>
        </p:nvSpPr>
        <p:spPr>
          <a:xfrm>
            <a:off x="685800" y="5428993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318757"/>
            <a:ext cx="10479024" cy="2453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全角检测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中文输入法打出的（，；会被拒绝并提示改成半角，避免“看不见的错误”</a:t>
            </a:r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"/>
                            </p:stCondLst>
                            <p:childTnLst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70"/>
                            </p:stCondLst>
                            <p:childTnLst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0"/>
                            </p:stCondLst>
                            <p:childTnLst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0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40"/>
                            </p:stCondLst>
                            <p:childTnLst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10"/>
                            </p:stCondLst>
                            <p:childTnLst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10"/>
                            </p:stCondLst>
                            <p:childTnLst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10"/>
                            </p:stCondLst>
                            <p:childTnLst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10"/>
                            </p:stCondLst>
                            <p:childTnLst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10"/>
                            </p:stCondLst>
                            <p:childTnLst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80"/>
                            </p:stCondLst>
                            <p:childTnLst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850"/>
                            </p:stCondLst>
                            <p:childTnLst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50"/>
                            </p:stCondLst>
                            <p:childTnLst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50"/>
                            </p:stCondLst>
                            <p:childTnLst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50"/>
                            </p:stCondLst>
                            <p:childTnLst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20"/>
                            </p:stCondLst>
                            <p:childTnLst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20"/>
                            </p:stCondLst>
                            <p:childTnLst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20"/>
                            </p:stCondLst>
                            <p:childTnLst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20"/>
                            </p:stCondLst>
                            <p:childTnLst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4088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9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GZG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Build a language,</a:t>
            </a:r>
          </a:p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prove it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820095" cy="6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Microsoft YaHei"/>
                <a:ea typeface="Microsoft YaHei"/>
                <a:cs typeface="Microsoft YaHei"/>
              </a:rPr>
              <a:t>GZG · 郭志罡 · 程序设计实践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70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06 /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961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 spc="300">
                <a:solidFill>
                  <a:srgbClr val="E2554F"/>
                </a:solidFill>
                <a:latin typeface="Segoe UI"/>
                <a:ea typeface="Segoe UI"/>
                <a:cs typeface="Segoe UI"/>
              </a:rPr>
              <a:t>04 · FEATURE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1430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 spc="20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模式匹配、管道与命名参数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38528"/>
            <a:ext cx="5298948" cy="2712719"/>
          </a:xfrm>
          <a:prstGeom prst="roundRect">
            <a:avLst>
              <a:gd name="adj" fmla="val 3500"/>
            </a:avLst>
          </a:prstGeom>
          <a:solidFill>
            <a:srgbClr val="050A1E">
              <a:alpha val="78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2093976"/>
            <a:ext cx="100584" cy="100584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" y="2093976"/>
            <a:ext cx="100584" cy="100584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234440" y="2093976"/>
            <a:ext cx="100584" cy="100584"/>
          </a:xfrm>
          <a:prstGeom prst="ellipse">
            <a:avLst/>
          </a:prstGeom>
          <a:solidFill>
            <a:srgbClr val="5DB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2020824"/>
            <a:ext cx="42016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match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2395728"/>
            <a:ext cx="4887468" cy="2164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37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let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level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match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score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12000"/>
              </a:lnSpc>
            </a:pP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90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.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.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937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100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F4A07A"/>
                </a:solidFill>
                <a:latin typeface="Consolas"/>
                <a:ea typeface="Microsoft YaHei"/>
                <a:cs typeface="Consolas"/>
              </a:rPr>
              <a:t>"A"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6D80AA"/>
                </a:solidFill>
                <a:latin typeface="Consolas"/>
                <a:ea typeface="Microsoft YaHei"/>
                <a:cs typeface="Consolas"/>
              </a:rPr>
              <a:t># 闭区间</a:t>
            </a:r>
          </a:p>
          <a:p>
            <a:pPr algn="l">
              <a:lnSpc>
                <a:spcPct val="112000"/>
              </a:lnSpc>
            </a:pP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80..90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F4A07A"/>
                </a:solidFill>
                <a:latin typeface="Consolas"/>
                <a:ea typeface="Microsoft YaHei"/>
                <a:cs typeface="Consolas"/>
              </a:rPr>
              <a:t>"B"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6D80AA"/>
                </a:solidFill>
                <a:latin typeface="Consolas"/>
                <a:ea typeface="Microsoft YaHei"/>
                <a:cs typeface="Consolas"/>
              </a:rPr>
              <a:t># 左闭右开</a:t>
            </a:r>
          </a:p>
          <a:p>
            <a:pPr algn="l">
              <a:lnSpc>
                <a:spcPct val="112000"/>
              </a:lnSpc>
            </a:pP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0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1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2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F4A07A"/>
                </a:solidFill>
                <a:latin typeface="Consolas"/>
                <a:ea typeface="Microsoft YaHei"/>
                <a:cs typeface="Consolas"/>
              </a:rPr>
              <a:t>"几乎零分"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6D80AA"/>
                </a:solidFill>
                <a:latin typeface="Consolas"/>
                <a:ea typeface="Microsoft YaHei"/>
                <a:cs typeface="Consolas"/>
              </a:rPr>
              <a:t># 多个值</a:t>
            </a:r>
          </a:p>
          <a:p>
            <a:pPr algn="l">
              <a:lnSpc>
                <a:spcPct val="112000"/>
              </a:lnSpc>
            </a:pP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_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if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score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&lt;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0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F4A07A"/>
                </a:solidFill>
                <a:latin typeface="Consolas"/>
                <a:ea typeface="Microsoft YaHei"/>
                <a:cs typeface="Consolas"/>
              </a:rPr>
              <a:t>"非法"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6D80AA"/>
                </a:solidFill>
                <a:latin typeface="Consolas"/>
                <a:ea typeface="Microsoft YaHei"/>
                <a:cs typeface="Consolas"/>
              </a:rPr>
              <a:t># 守卫</a:t>
            </a:r>
          </a:p>
          <a:p>
            <a:pPr algn="l">
              <a:lnSpc>
                <a:spcPct val="112000"/>
              </a:lnSpc>
            </a:pP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_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F4A07A"/>
                </a:solidFill>
                <a:latin typeface="Consolas"/>
                <a:ea typeface="Microsoft YaHei"/>
                <a:cs typeface="Consolas"/>
              </a:rPr>
              <a:t>"C"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</a:p>
          <a:p>
            <a:pPr algn="l">
              <a:lnSpc>
                <a:spcPct val="112000"/>
              </a:lnSpc>
            </a:pP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}</a:t>
            </a:r>
          </a:p>
          <a:p>
            <a:pPr algn="l">
              <a:lnSpc>
                <a:spcPct val="112000"/>
              </a:lnSpc>
            </a:pPr>
            <a:r>
              <a:rPr sz="937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match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cmd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12000"/>
              </a:lnSpc>
            </a:pP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F4A07A"/>
                </a:solidFill>
                <a:latin typeface="Consolas"/>
                <a:ea typeface="Microsoft YaHei"/>
                <a:cs typeface="Consolas"/>
              </a:rPr>
              <a:t>"q"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break</a:t>
            </a:r>
          </a:p>
          <a:p>
            <a:pPr algn="l">
              <a:lnSpc>
                <a:spcPct val="112000"/>
              </a:lnSpc>
            </a:pP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n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if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n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.</a:t>
            </a:r>
            <a:r>
              <a:rPr sz="937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is_digit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go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937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int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n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6D80AA"/>
                </a:solidFill>
                <a:latin typeface="Consolas"/>
                <a:ea typeface="Microsoft YaHei"/>
                <a:cs typeface="Consolas"/>
              </a:rPr>
              <a:t># 绑定</a:t>
            </a:r>
          </a:p>
          <a:p>
            <a:pPr algn="l">
              <a:lnSpc>
                <a:spcPct val="112000"/>
              </a:lnSpc>
            </a:pP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_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37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print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937" b="0" i="0">
                <a:solidFill>
                  <a:srgbClr val="F4A07A"/>
                </a:solidFill>
                <a:latin typeface="Consolas"/>
                <a:ea typeface="Microsoft YaHei"/>
                <a:cs typeface="Consolas"/>
              </a:rPr>
              <a:t>"未知命令"</a:t>
            </a: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sz="937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4476" y="1938528"/>
            <a:ext cx="5298948" cy="2712719"/>
          </a:xfrm>
          <a:prstGeom prst="roundRect">
            <a:avLst>
              <a:gd name="adj" fmla="val 3500"/>
            </a:avLst>
          </a:prstGeom>
          <a:solidFill>
            <a:srgbClr val="050A1E">
              <a:alpha val="78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77356" y="2093976"/>
            <a:ext cx="100584" cy="100584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60236" y="2093976"/>
            <a:ext cx="100584" cy="100584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43116" y="2093976"/>
            <a:ext cx="100584" cy="100584"/>
          </a:xfrm>
          <a:prstGeom prst="ellipse">
            <a:avLst/>
          </a:prstGeom>
          <a:solidFill>
            <a:srgbClr val="5DB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63156" y="2020824"/>
            <a:ext cx="42016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管道 / 参数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508" y="2395728"/>
            <a:ext cx="4887468" cy="2164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fn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top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xs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n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3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xs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.</a:t>
            </a:r>
            <a:r>
              <a:rPr sz="1300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sorted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1300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fn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x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-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x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[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: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n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]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fn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mean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xs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xs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.</a:t>
            </a:r>
            <a:r>
              <a:rPr sz="1300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sum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/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len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xs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E6ECF8"/>
                </a:solidFill>
                <a:latin typeface="Consolas"/>
                <a:ea typeface="Microsoft YaHei"/>
                <a:cs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print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scores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|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top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|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mean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print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scores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|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top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1300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5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|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&gt;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mean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E6ECF8"/>
                </a:solidFill>
                <a:latin typeface="Consolas"/>
                <a:ea typeface="Microsoft YaHei"/>
                <a:cs typeface="Consolas"/>
              </a:rPr>
              <a:t> 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fn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connect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host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port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80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timeout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5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{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}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connect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1300" b="0" i="0">
                <a:solidFill>
                  <a:srgbClr val="F4A07A"/>
                </a:solidFill>
                <a:latin typeface="Consolas"/>
                <a:ea typeface="Microsoft YaHei"/>
                <a:cs typeface="Consolas"/>
              </a:rPr>
              <a:t>"gzg.dev"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,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timeout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: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30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</a:p>
        </p:txBody>
      </p:sp>
      <p:sp>
        <p:nvSpPr>
          <p:cNvPr id="26" name="Oval 25"/>
          <p:cNvSpPr/>
          <p:nvPr/>
        </p:nvSpPr>
        <p:spPr>
          <a:xfrm>
            <a:off x="685800" y="4871212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760976"/>
            <a:ext cx="10479024" cy="2453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match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字面量、多值、区间、守卫、绑定、通配；可作语句也可作表达式，自上而下、不贯穿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" y="5226811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116575"/>
            <a:ext cx="10479024" cy="2453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管道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x |&gt; f(a) 等价于 f(x, a)，数据处理从左往右读；默认参数没有 Python 的“可变默认值共享”陷阱</a:t>
            </a:r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0"/>
                            </p:stCondLst>
                            <p:childTnLst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"/>
                            </p:stCondLst>
                            <p:childTnLst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70"/>
                            </p:stCondLst>
                            <p:childTnLst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0"/>
                            </p:stCondLst>
                            <p:childTnLst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40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10"/>
                            </p:stCondLst>
                            <p:childTnLst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10"/>
                            </p:stCondLst>
                            <p:childTnLst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10"/>
                            </p:stCondLst>
                            <p:childTnLst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10"/>
                            </p:stCondLst>
                            <p:childTnLst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10"/>
                            </p:stCondLst>
                            <p:childTnLst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80"/>
                            </p:stCondLst>
                            <p:childTnLst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50"/>
                            </p:stCondLst>
                            <p:childTnLst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850"/>
                            </p:stCondLst>
                            <p:childTnLst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50"/>
                            </p:stCondLst>
                            <p:childTnLst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50"/>
                            </p:stCondLst>
                            <p:childTnLst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4088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9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GZG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Build a language,</a:t>
            </a:r>
          </a:p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prove it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820095" cy="6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Microsoft YaHei"/>
                <a:ea typeface="Microsoft YaHei"/>
                <a:cs typeface="Microsoft YaHei"/>
              </a:rPr>
              <a:t>GZG · 郭志罡 · 程序设计实践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70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07 /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961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 spc="300">
                <a:solidFill>
                  <a:srgbClr val="E2554F"/>
                </a:solidFill>
                <a:latin typeface="Segoe UI"/>
                <a:ea typeface="Segoe UI"/>
                <a:cs typeface="Segoe UI"/>
              </a:rPr>
              <a:t>05 ·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1430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 spc="20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解释器架构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470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单遍编译 + 字节码虚拟机 + 标记清除 GC，C99 实现，无第三方依赖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331720"/>
            <a:ext cx="1834286" cy="1362456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51760"/>
            <a:ext cx="183428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0" i="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源码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54680"/>
            <a:ext cx="155996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.gzg
UTF-8</a:t>
            </a:r>
          </a:p>
        </p:txBody>
      </p:sp>
      <p:sp>
        <p:nvSpPr>
          <p:cNvPr id="18" name="Chevron 17"/>
          <p:cNvSpPr/>
          <p:nvPr/>
        </p:nvSpPr>
        <p:spPr>
          <a:xfrm>
            <a:off x="2611526" y="2894076"/>
            <a:ext cx="201168" cy="237744"/>
          </a:xfrm>
          <a:prstGeom prst="chevron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904134" y="2331720"/>
            <a:ext cx="1834286" cy="1362456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04134" y="2651760"/>
            <a:ext cx="183428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0" i="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词法分析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41294" y="3154680"/>
            <a:ext cx="155996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双语关键字
插值
自动分号</a:t>
            </a:r>
          </a:p>
        </p:txBody>
      </p:sp>
      <p:sp>
        <p:nvSpPr>
          <p:cNvPr id="22" name="Chevron 21"/>
          <p:cNvSpPr/>
          <p:nvPr/>
        </p:nvSpPr>
        <p:spPr>
          <a:xfrm>
            <a:off x="4829860" y="2894076"/>
            <a:ext cx="201168" cy="237744"/>
          </a:xfrm>
          <a:prstGeom prst="chevron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22468" y="2331720"/>
            <a:ext cx="1834286" cy="1362456"/>
          </a:xfrm>
          <a:prstGeom prst="roundRect">
            <a:avLst>
              <a:gd name="adj" fmla="val 8000"/>
            </a:avLst>
          </a:prstGeom>
          <a:solidFill>
            <a:srgbClr val="5B95F7">
              <a:alpha val="30000"/>
            </a:srgbClr>
          </a:solidFill>
          <a:ln w="9525">
            <a:solidFill>
              <a:srgbClr val="A9CB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2468" y="2651760"/>
            <a:ext cx="183428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0" i="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编译器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9628" y="3154680"/>
            <a:ext cx="155996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Pratt 解析
作用域
闭包</a:t>
            </a:r>
          </a:p>
        </p:txBody>
      </p:sp>
      <p:sp>
        <p:nvSpPr>
          <p:cNvPr id="26" name="Chevron 25"/>
          <p:cNvSpPr/>
          <p:nvPr/>
        </p:nvSpPr>
        <p:spPr>
          <a:xfrm>
            <a:off x="7048195" y="2894076"/>
            <a:ext cx="201168" cy="237744"/>
          </a:xfrm>
          <a:prstGeom prst="chevron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40803" y="2331720"/>
            <a:ext cx="1834286" cy="1362456"/>
          </a:xfrm>
          <a:prstGeom prst="roundRect">
            <a:avLst>
              <a:gd name="adj" fmla="val 8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40803" y="2651760"/>
            <a:ext cx="183428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0" i="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字节码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7963" y="3154680"/>
            <a:ext cx="155996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约 75 条指令
常量池
行号表</a:t>
            </a:r>
          </a:p>
        </p:txBody>
      </p:sp>
      <p:sp>
        <p:nvSpPr>
          <p:cNvPr id="30" name="Chevron 29"/>
          <p:cNvSpPr/>
          <p:nvPr/>
        </p:nvSpPr>
        <p:spPr>
          <a:xfrm>
            <a:off x="9266529" y="2894076"/>
            <a:ext cx="201168" cy="237744"/>
          </a:xfrm>
          <a:prstGeom prst="chevron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59137" y="2331720"/>
            <a:ext cx="1834286" cy="1362456"/>
          </a:xfrm>
          <a:prstGeom prst="roundRect">
            <a:avLst>
              <a:gd name="adj" fmla="val 8000"/>
            </a:avLst>
          </a:prstGeom>
          <a:solidFill>
            <a:srgbClr val="5B95F7">
              <a:alpha val="30000"/>
            </a:srgbClr>
          </a:solidFill>
          <a:ln w="9525">
            <a:solidFill>
              <a:srgbClr val="A9CBFF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59137" y="2651760"/>
            <a:ext cx="183428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0" i="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虚拟机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6297" y="3154680"/>
            <a:ext cx="1559966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computed goto
调用帧
异常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995928"/>
            <a:ext cx="2034590" cy="2066544"/>
          </a:xfrm>
          <a:prstGeom prst="roundRect">
            <a:avLst>
              <a:gd name="adj" fmla="val 5000"/>
            </a:avLst>
          </a:prstGeom>
          <a:solidFill>
            <a:srgbClr val="FFFFFF">
              <a:alpha val="5500"/>
            </a:srgbClr>
          </a:solidFill>
          <a:ln w="9525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3995928"/>
            <a:ext cx="548640" cy="30000"/>
          </a:xfrm>
          <a:prstGeom prst="rect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4251960"/>
            <a:ext cx="148595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A9CBFF"/>
                </a:solidFill>
                <a:latin typeface="Georgia"/>
                <a:ea typeface="STZhongsong"/>
                <a:cs typeface="Georgia"/>
              </a:rPr>
              <a:t>memory.c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4773168"/>
            <a:ext cx="1485950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三色标记-清除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字符串池为弱引用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48990" y="3995928"/>
            <a:ext cx="2034590" cy="2066544"/>
          </a:xfrm>
          <a:prstGeom prst="roundRect">
            <a:avLst>
              <a:gd name="adj" fmla="val 5000"/>
            </a:avLst>
          </a:prstGeom>
          <a:solidFill>
            <a:srgbClr val="FFFFFF">
              <a:alpha val="5500"/>
            </a:srgbClr>
          </a:solidFill>
          <a:ln w="9525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77590" y="3995928"/>
            <a:ext cx="548640" cy="30000"/>
          </a:xfrm>
          <a:prstGeom prst="rect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23310" y="4251960"/>
            <a:ext cx="148595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A9CBFF"/>
                </a:solidFill>
                <a:latin typeface="Georgia"/>
                <a:ea typeface="STZhongsong"/>
                <a:cs typeface="Georgia"/>
              </a:rPr>
              <a:t>builtins.c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23310" y="4773168"/>
            <a:ext cx="1485950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约 60 个全局函数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约 80 个内建方法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181" y="3995928"/>
            <a:ext cx="2034590" cy="2066544"/>
          </a:xfrm>
          <a:prstGeom prst="roundRect">
            <a:avLst>
              <a:gd name="adj" fmla="val 5000"/>
            </a:avLst>
          </a:prstGeom>
          <a:solidFill>
            <a:srgbClr val="FFFFFF">
              <a:alpha val="5500"/>
            </a:srgbClr>
          </a:solidFill>
          <a:ln w="9525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40781" y="3995928"/>
            <a:ext cx="548640" cy="30000"/>
          </a:xfrm>
          <a:prstGeom prst="rect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501" y="4251960"/>
            <a:ext cx="148595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A9CBFF"/>
                </a:solidFill>
                <a:latin typeface="Georgia"/>
                <a:ea typeface="STZhongsong"/>
                <a:cs typeface="Georgia"/>
              </a:rPr>
              <a:t>platform.c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501" y="4773168"/>
            <a:ext cx="1485950" cy="1152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中文路径与参数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UTF-8 控制台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26934" y="3995928"/>
            <a:ext cx="376648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各模块代码行数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26934" y="4407408"/>
            <a:ext cx="1051560" cy="236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lexer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678494" y="4466517"/>
            <a:ext cx="2166289" cy="11821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678494" y="4466517"/>
            <a:ext cx="447256" cy="118218"/>
          </a:xfrm>
          <a:prstGeom prst="roundRect">
            <a:avLst>
              <a:gd name="adj" fmla="val 50000"/>
            </a:avLst>
          </a:prstGeom>
          <a:solidFill>
            <a:srgbClr val="E2554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17935" y="4407408"/>
            <a:ext cx="548640" cy="236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377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26934" y="4643845"/>
            <a:ext cx="1051560" cy="236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compiler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78494" y="4702955"/>
            <a:ext cx="2166289" cy="11821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678494" y="4702955"/>
            <a:ext cx="2074939" cy="118218"/>
          </a:xfrm>
          <a:prstGeom prst="roundRect">
            <a:avLst>
              <a:gd name="adj" fmla="val 50000"/>
            </a:avLst>
          </a:prstGeom>
          <a:solidFill>
            <a:srgbClr val="5B95F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917935" y="4643845"/>
            <a:ext cx="548640" cy="236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1,749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26934" y="4880283"/>
            <a:ext cx="1051560" cy="236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vm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78494" y="4939392"/>
            <a:ext cx="2166289" cy="11821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678494" y="4939392"/>
            <a:ext cx="2031044" cy="118218"/>
          </a:xfrm>
          <a:prstGeom prst="roundRect">
            <a:avLst>
              <a:gd name="adj" fmla="val 50000"/>
            </a:avLst>
          </a:prstGeom>
          <a:solidFill>
            <a:srgbClr val="5B95F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917935" y="4880283"/>
            <a:ext cx="548640" cy="236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1,712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26934" y="5116721"/>
            <a:ext cx="1051560" cy="236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builtins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678494" y="5175830"/>
            <a:ext cx="2166289" cy="11821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678494" y="5175830"/>
            <a:ext cx="2166289" cy="118218"/>
          </a:xfrm>
          <a:prstGeom prst="roundRect">
            <a:avLst>
              <a:gd name="adj" fmla="val 50000"/>
            </a:avLst>
          </a:prstGeom>
          <a:solidFill>
            <a:srgbClr val="5B95F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917935" y="5116721"/>
            <a:ext cx="548640" cy="236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1,826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26934" y="5353158"/>
            <a:ext cx="1051560" cy="236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对象/表/值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678494" y="5412268"/>
            <a:ext cx="2166289" cy="11821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678494" y="5412268"/>
            <a:ext cx="982304" cy="118218"/>
          </a:xfrm>
          <a:prstGeom prst="roundRect">
            <a:avLst>
              <a:gd name="adj" fmla="val 50000"/>
            </a:avLst>
          </a:prstGeom>
          <a:solidFill>
            <a:srgbClr val="5B95F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17935" y="5353158"/>
            <a:ext cx="548640" cy="236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828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626934" y="5589596"/>
            <a:ext cx="1051560" cy="236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memory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678494" y="5648706"/>
            <a:ext cx="2166289" cy="11821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678494" y="5648706"/>
            <a:ext cx="279980" cy="118218"/>
          </a:xfrm>
          <a:prstGeom prst="roundRect">
            <a:avLst>
              <a:gd name="adj" fmla="val 50000"/>
            </a:avLst>
          </a:prstGeom>
          <a:solidFill>
            <a:srgbClr val="5B95F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917935" y="5589596"/>
            <a:ext cx="548640" cy="236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236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626934" y="5826034"/>
            <a:ext cx="1051560" cy="236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platform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678494" y="5885143"/>
            <a:ext cx="2166289" cy="118218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678494" y="5885143"/>
            <a:ext cx="469797" cy="118218"/>
          </a:xfrm>
          <a:prstGeom prst="roundRect">
            <a:avLst>
              <a:gd name="adj" fmla="val 50000"/>
            </a:avLst>
          </a:prstGeom>
          <a:solidFill>
            <a:srgbClr val="5B95F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917935" y="5826034"/>
            <a:ext cx="548640" cy="23643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396</a:t>
            </a:r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62"/>
                            </p:stCondLst>
                            <p:childTnLst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2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62"/>
                            </p:stCondLst>
                            <p:childTnLst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62"/>
                            </p:stCondLst>
                            <p:childTnLst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25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25"/>
                            </p:stCondLst>
                            <p:childTnLst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25"/>
                            </p:stCondLst>
                            <p:childTnLst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25"/>
                            </p:stCondLst>
                            <p:childTnLst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87"/>
                            </p:stCondLst>
                            <p:childTnLst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87"/>
                            </p:stCondLst>
                            <p:childTnLst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87"/>
                            </p:stCondLst>
                            <p:childTnLst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87"/>
                            </p:stCondLst>
                            <p:childTnLst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50"/>
                            </p:stCondLst>
                            <p:childTnLst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650"/>
                            </p:stCondLst>
                            <p:childTnLst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50"/>
                            </p:stCondLst>
                            <p:childTnLst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50"/>
                            </p:stCondLst>
                            <p:childTnLst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12"/>
                            </p:stCondLst>
                            <p:childTnLst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812"/>
                            </p:stCondLst>
                            <p:childTnLst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812"/>
                            </p:stCondLst>
                            <p:childTnLst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975"/>
                            </p:stCondLst>
                            <p:childTnLst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975"/>
                            </p:stCondLst>
                            <p:childTnLst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975"/>
                            </p:stCondLst>
                            <p:childTnLst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975"/>
                            </p:stCondLst>
                            <p:childTnLst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137"/>
                            </p:stCondLst>
                            <p:childTnLst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137"/>
                            </p:stCondLst>
                            <p:childTnLst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137"/>
                            </p:stCondLst>
                            <p:childTnLst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137"/>
                            </p:stCondLst>
                            <p:childTnLst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300"/>
                            </p:stCondLst>
                            <p:childTnLst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300"/>
                            </p:stCondLst>
                            <p:childTnLst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300"/>
                            </p:stCondLst>
                            <p:childTnLst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300"/>
                            </p:stCondLst>
                            <p:childTnLst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462"/>
                            </p:stCondLst>
                            <p:childTnLst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6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462"/>
                            </p:stCondLst>
                            <p:childTnLst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6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462"/>
                            </p:stCondLst>
                            <p:childTnLst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6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462"/>
                            </p:stCondLst>
                            <p:childTnLst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462"/>
                            </p:stCondLst>
                            <p:childTnLst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6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625"/>
                            </p:stCondLst>
                            <p:childTnLst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625"/>
                            </p:stCondLst>
                            <p:childTnLst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6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1625"/>
                            </p:stCondLst>
                            <p:childTnLst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6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1625"/>
                            </p:stCondLst>
                            <p:childTnLst>
                              <p:par>
                                <p:cTn id="2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6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1787"/>
                            </p:stCondLst>
                            <p:childTnLst>
                              <p:par>
                                <p:cTn id="2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1787"/>
                            </p:stCondLst>
                            <p:childTnLst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6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1787"/>
                            </p:stCondLst>
                            <p:childTnLst>
                              <p:par>
                                <p:cTn id="2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1787"/>
                            </p:stCondLst>
                            <p:childTnLst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1950"/>
                            </p:stCondLst>
                            <p:childTnLst>
                              <p:par>
                                <p:cTn id="2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1950"/>
                            </p:stCondLst>
                            <p:childTnLst>
                              <p:par>
                                <p:cTn id="2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1950"/>
                            </p:stCondLst>
                            <p:childTnLst>
                              <p:par>
                                <p:cTn id="2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1950"/>
                            </p:stCondLst>
                            <p:childTnLst>
                              <p:par>
                                <p:cTn id="2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2112"/>
                            </p:stCondLst>
                            <p:childTnLst>
                              <p:par>
                                <p:cTn id="2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2112"/>
                            </p:stCondLst>
                            <p:childTnLst>
                              <p:par>
                                <p:cTn id="2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2112"/>
                            </p:stCondLst>
                            <p:childTnLst>
                              <p:par>
                                <p:cTn id="2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2112"/>
                            </p:stCondLst>
                            <p:childTnLst>
                              <p:par>
                                <p:cTn id="2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3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2275"/>
                            </p:stCondLst>
                            <p:childTnLst>
                              <p:par>
                                <p:cTn id="2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8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2275"/>
                            </p:stCondLst>
                            <p:childTnLst>
                              <p:par>
                                <p:cTn id="2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2275"/>
                            </p:stCondLst>
                            <p:childTnLst>
                              <p:par>
                                <p:cTn id="2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8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2275"/>
                            </p:stCondLst>
                            <p:childTnLst>
                              <p:par>
                                <p:cTn id="2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2437"/>
                            </p:stCondLst>
                            <p:childTnLst>
                              <p:par>
                                <p:cTn id="3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8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2437"/>
                            </p:stCondLst>
                            <p:childTnLst>
                              <p:par>
                                <p:cTn id="3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3" dur="6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2437"/>
                            </p:stCondLst>
                            <p:childTnLst>
                              <p:par>
                                <p:cTn id="3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6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8" dur="6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2437"/>
                            </p:stCondLst>
                            <p:childTnLst>
                              <p:par>
                                <p:cTn id="3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3" dur="6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4088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9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GZG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Build a language,</a:t>
            </a:r>
          </a:p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prove it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820095" cy="6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Microsoft YaHei"/>
                <a:ea typeface="Microsoft YaHei"/>
                <a:cs typeface="Microsoft YaHei"/>
              </a:rPr>
              <a:t>GZG · 郭志罡 · 程序设计实践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70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08 /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961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 spc="300">
                <a:solidFill>
                  <a:srgbClr val="E2554F"/>
                </a:solidFill>
                <a:latin typeface="Segoe UI"/>
                <a:ea typeface="Segoe UI"/>
                <a:cs typeface="Segoe UI"/>
              </a:rPr>
              <a:t>06 · COMPILER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1430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 spc="20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编译器：一遍扫描直接生成字节码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470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不构建 AST；变量在编译期解析成栈槽 / upvalue / 全局下标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331720"/>
            <a:ext cx="4036923" cy="1362456"/>
          </a:xfrm>
          <a:prstGeom prst="roundRect">
            <a:avLst>
              <a:gd name="adj" fmla="val 3500"/>
            </a:avLst>
          </a:prstGeom>
          <a:solidFill>
            <a:srgbClr val="050A1E">
              <a:alpha val="78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2487168"/>
            <a:ext cx="100584" cy="100584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2487168"/>
            <a:ext cx="100584" cy="100584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4440" y="2487168"/>
            <a:ext cx="100584" cy="100584"/>
          </a:xfrm>
          <a:prstGeom prst="ellipse">
            <a:avLst/>
          </a:prstGeom>
          <a:solidFill>
            <a:srgbClr val="5DB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414016"/>
            <a:ext cx="293964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fib.gzg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788920"/>
            <a:ext cx="3625443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80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fn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fib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n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{</a:t>
            </a:r>
          </a:p>
          <a:p>
            <a:pPr algn="l">
              <a:lnSpc>
                <a:spcPct val="112000"/>
              </a:lnSpc>
            </a:pP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if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n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&lt;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2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{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return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n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}</a:t>
            </a:r>
          </a:p>
          <a:p>
            <a:pPr algn="l">
              <a:lnSpc>
                <a:spcPct val="112000"/>
              </a:lnSpc>
            </a:pP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return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fib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n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-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1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+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fib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n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-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980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2</a:t>
            </a: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</a:p>
          <a:p>
            <a:pPr algn="l">
              <a:lnSpc>
                <a:spcPct val="112000"/>
              </a:lnSpc>
            </a:pPr>
            <a:r>
              <a:rPr sz="98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02885" y="2331720"/>
            <a:ext cx="6290538" cy="3730752"/>
          </a:xfrm>
          <a:prstGeom prst="roundRect">
            <a:avLst>
              <a:gd name="adj" fmla="val 3500"/>
            </a:avLst>
          </a:prstGeom>
          <a:solidFill>
            <a:srgbClr val="050A1E">
              <a:alpha val="78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85765" y="2487168"/>
            <a:ext cx="100584" cy="100584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468645" y="2487168"/>
            <a:ext cx="100584" cy="100584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651525" y="2487168"/>
            <a:ext cx="100584" cy="100584"/>
          </a:xfrm>
          <a:prstGeom prst="ellipse">
            <a:avLst/>
          </a:prstGeom>
          <a:solidFill>
            <a:srgbClr val="5DB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71565" y="2414016"/>
            <a:ext cx="51932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gzg --dis fib.gzg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8917" y="2788920"/>
            <a:ext cx="5879058" cy="3182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== fib ==</a:t>
            </a:r>
          </a:p>
          <a:p>
            <a:pPr algn="l">
              <a:lnSpc>
                <a:spcPct val="112000"/>
              </a:lnSpc>
            </a:pP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0000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</a:t>
            </a: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2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048" b="0" i="0">
                <a:solidFill>
                  <a:srgbClr val="A9CBFF"/>
                </a:solidFill>
                <a:latin typeface="Consolas"/>
                <a:ea typeface="Microsoft YaHei"/>
                <a:cs typeface="Consolas"/>
              </a:rPr>
              <a:t>GET_LOCAL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        </a:t>
            </a: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1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    </a:t>
            </a:r>
            <a:r>
              <a:rPr sz="1048" b="0" i="0">
                <a:solidFill>
                  <a:srgbClr val="E2554F"/>
                </a:solidFill>
                <a:latin typeface="Consolas"/>
                <a:ea typeface="Microsoft YaHei"/>
                <a:cs typeface="Consolas"/>
              </a:rPr>
              <a:t>← n 在栈槽 1</a:t>
            </a:r>
          </a:p>
          <a:p>
            <a:pPr algn="l">
              <a:lnSpc>
                <a:spcPct val="112000"/>
              </a:lnSpc>
            </a:pP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0002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| </a:t>
            </a:r>
            <a:r>
              <a:rPr sz="1048" b="0" i="0">
                <a:solidFill>
                  <a:srgbClr val="A9CBFF"/>
                </a:solidFill>
                <a:latin typeface="Consolas"/>
                <a:ea typeface="Microsoft YaHei"/>
                <a:cs typeface="Consolas"/>
              </a:rPr>
              <a:t>CONSTANT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         </a:t>
            </a: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048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'2'</a:t>
            </a:r>
          </a:p>
          <a:p>
            <a:pPr algn="l">
              <a:lnSpc>
                <a:spcPct val="112000"/>
              </a:lnSpc>
            </a:pP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0005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| </a:t>
            </a:r>
            <a:r>
              <a:rPr sz="1048" b="0" i="0">
                <a:solidFill>
                  <a:srgbClr val="A9CBFF"/>
                </a:solidFill>
                <a:latin typeface="Consolas"/>
                <a:ea typeface="Microsoft YaHei"/>
                <a:cs typeface="Consolas"/>
              </a:rPr>
              <a:t>LESS</a:t>
            </a:r>
          </a:p>
          <a:p>
            <a:pPr algn="l">
              <a:lnSpc>
                <a:spcPct val="112000"/>
              </a:lnSpc>
            </a:pP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0006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| </a:t>
            </a:r>
            <a:r>
              <a:rPr sz="1048" b="0" i="0">
                <a:solidFill>
                  <a:srgbClr val="A9CBFF"/>
                </a:solidFill>
                <a:latin typeface="Consolas"/>
                <a:ea typeface="Microsoft YaHei"/>
                <a:cs typeface="Consolas"/>
              </a:rPr>
              <a:t>POP_JUMP_IF_FALSE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</a:t>
            </a: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6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-&gt; </a:t>
            </a: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12</a:t>
            </a:r>
          </a:p>
          <a:p>
            <a:pPr algn="l">
              <a:lnSpc>
                <a:spcPct val="112000"/>
              </a:lnSpc>
            </a:pP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0009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| </a:t>
            </a:r>
            <a:r>
              <a:rPr sz="1048" b="0" i="0">
                <a:solidFill>
                  <a:srgbClr val="A9CBFF"/>
                </a:solidFill>
                <a:latin typeface="Consolas"/>
                <a:ea typeface="Microsoft YaHei"/>
                <a:cs typeface="Consolas"/>
              </a:rPr>
              <a:t>GET_LOCAL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        </a:t>
            </a: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1</a:t>
            </a:r>
          </a:p>
          <a:p>
            <a:pPr algn="l">
              <a:lnSpc>
                <a:spcPct val="112000"/>
              </a:lnSpc>
            </a:pP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0011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| </a:t>
            </a:r>
            <a:r>
              <a:rPr sz="1048" b="0" i="0">
                <a:solidFill>
                  <a:srgbClr val="A9CBFF"/>
                </a:solidFill>
                <a:latin typeface="Consolas"/>
                <a:ea typeface="Microsoft YaHei"/>
                <a:cs typeface="Consolas"/>
              </a:rPr>
              <a:t>RETURN</a:t>
            </a:r>
          </a:p>
          <a:p>
            <a:pPr algn="l">
              <a:lnSpc>
                <a:spcPct val="112000"/>
              </a:lnSpc>
            </a:pP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0012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</a:t>
            </a: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3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048" b="0" i="0">
                <a:solidFill>
                  <a:srgbClr val="A9CBFF"/>
                </a:solidFill>
                <a:latin typeface="Consolas"/>
                <a:ea typeface="Microsoft YaHei"/>
                <a:cs typeface="Consolas"/>
              </a:rPr>
              <a:t>GET_GLOBAL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      </a:t>
            </a: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61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048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(fib)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</a:t>
            </a:r>
            <a:r>
              <a:rPr sz="1048" b="0" i="0">
                <a:solidFill>
                  <a:srgbClr val="E2554F"/>
                </a:solidFill>
                <a:latin typeface="Consolas"/>
                <a:ea typeface="Microsoft YaHei"/>
                <a:cs typeface="Consolas"/>
              </a:rPr>
              <a:t>← 编译期定好下标</a:t>
            </a:r>
          </a:p>
          <a:p>
            <a:pPr algn="l">
              <a:lnSpc>
                <a:spcPct val="112000"/>
              </a:lnSpc>
            </a:pP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0015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| </a:t>
            </a:r>
            <a:r>
              <a:rPr sz="1048" b="0" i="0">
                <a:solidFill>
                  <a:srgbClr val="A9CBFF"/>
                </a:solidFill>
                <a:latin typeface="Consolas"/>
                <a:ea typeface="Microsoft YaHei"/>
                <a:cs typeface="Consolas"/>
              </a:rPr>
              <a:t>GET_LOCAL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        </a:t>
            </a: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1</a:t>
            </a:r>
          </a:p>
          <a:p>
            <a:pPr algn="l">
              <a:lnSpc>
                <a:spcPct val="112000"/>
              </a:lnSpc>
            </a:pP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0017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| </a:t>
            </a:r>
            <a:r>
              <a:rPr sz="1048" b="0" i="0">
                <a:solidFill>
                  <a:srgbClr val="A9CBFF"/>
                </a:solidFill>
                <a:latin typeface="Consolas"/>
                <a:ea typeface="Microsoft YaHei"/>
                <a:cs typeface="Consolas"/>
              </a:rPr>
              <a:t>CONSTANT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         </a:t>
            </a: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1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048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'1'</a:t>
            </a:r>
          </a:p>
          <a:p>
            <a:pPr algn="l">
              <a:lnSpc>
                <a:spcPct val="112000"/>
              </a:lnSpc>
            </a:pP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0020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| </a:t>
            </a:r>
            <a:r>
              <a:rPr sz="1048" b="0" i="0">
                <a:solidFill>
                  <a:srgbClr val="A9CBFF"/>
                </a:solidFill>
                <a:latin typeface="Consolas"/>
                <a:ea typeface="Microsoft YaHei"/>
                <a:cs typeface="Consolas"/>
              </a:rPr>
              <a:t>SUB</a:t>
            </a:r>
          </a:p>
          <a:p>
            <a:pPr algn="l">
              <a:lnSpc>
                <a:spcPct val="112000"/>
              </a:lnSpc>
            </a:pP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0021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| </a:t>
            </a:r>
            <a:r>
              <a:rPr sz="1048" b="0" i="0">
                <a:solidFill>
                  <a:srgbClr val="A9CBFF"/>
                </a:solidFill>
                <a:latin typeface="Consolas"/>
                <a:ea typeface="Microsoft YaHei"/>
                <a:cs typeface="Consolas"/>
              </a:rPr>
              <a:t>CALL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             </a:t>
            </a: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1</a:t>
            </a:r>
          </a:p>
          <a:p>
            <a:pPr algn="l">
              <a:lnSpc>
                <a:spcPct val="112000"/>
              </a:lnSpc>
            </a:pP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0023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| </a:t>
            </a:r>
            <a:r>
              <a:rPr sz="1048" b="0" i="0">
                <a:solidFill>
                  <a:srgbClr val="A9CBFF"/>
                </a:solidFill>
                <a:latin typeface="Consolas"/>
                <a:ea typeface="Microsoft YaHei"/>
                <a:cs typeface="Consolas"/>
              </a:rPr>
              <a:t>GET_GLOBAL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      </a:t>
            </a: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61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048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(fib)</a:t>
            </a:r>
          </a:p>
          <a:p>
            <a:pPr algn="l">
              <a:lnSpc>
                <a:spcPct val="112000"/>
              </a:lnSpc>
            </a:pP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...</a:t>
            </a:r>
          </a:p>
          <a:p>
            <a:pPr algn="l">
              <a:lnSpc>
                <a:spcPct val="112000"/>
              </a:lnSpc>
            </a:pP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0034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| </a:t>
            </a:r>
            <a:r>
              <a:rPr sz="1048" b="0" i="0">
                <a:solidFill>
                  <a:srgbClr val="A9CBFF"/>
                </a:solidFill>
                <a:latin typeface="Consolas"/>
                <a:ea typeface="Microsoft YaHei"/>
                <a:cs typeface="Consolas"/>
              </a:rPr>
              <a:t>ADD</a:t>
            </a:r>
          </a:p>
          <a:p>
            <a:pPr algn="l">
              <a:lnSpc>
                <a:spcPct val="112000"/>
              </a:lnSpc>
            </a:pPr>
            <a:r>
              <a:rPr sz="1048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0035</a:t>
            </a:r>
            <a:r>
              <a:rPr sz="1048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| </a:t>
            </a:r>
            <a:r>
              <a:rPr sz="1048" b="0" i="0">
                <a:solidFill>
                  <a:srgbClr val="A9CBFF"/>
                </a:solidFill>
                <a:latin typeface="Consolas"/>
                <a:ea typeface="Microsoft YaHei"/>
                <a:cs typeface="Consolas"/>
              </a:rPr>
              <a:t>RETURN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" y="4090416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3995928"/>
            <a:ext cx="3808323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Pratt 解析</a:t>
            </a: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18 级优先级，** 右结合且高于一元负号</a:t>
            </a:r>
          </a:p>
        </p:txBody>
      </p:sp>
      <p:sp>
        <p:nvSpPr>
          <p:cNvPr id="29" name="Oval 28"/>
          <p:cNvSpPr/>
          <p:nvPr/>
        </p:nvSpPr>
        <p:spPr>
          <a:xfrm>
            <a:off x="685800" y="4605527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511039"/>
            <a:ext cx="3808323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闭包</a:t>
            </a: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被捕获的局部变量离开作用域时 CLOSE_UPVALUE 搬到堆上</a:t>
            </a:r>
          </a:p>
        </p:txBody>
      </p:sp>
      <p:sp>
        <p:nvSpPr>
          <p:cNvPr id="31" name="Oval 30"/>
          <p:cNvSpPr/>
          <p:nvPr/>
        </p:nvSpPr>
        <p:spPr>
          <a:xfrm>
            <a:off x="685800" y="5120638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026150"/>
            <a:ext cx="3808323" cy="2103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数值循环</a:t>
            </a: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for i in a..b 编译成 3 条专用指令</a:t>
            </a:r>
          </a:p>
        </p:txBody>
      </p:sp>
      <p:sp>
        <p:nvSpPr>
          <p:cNvPr id="33" name="Oval 32"/>
          <p:cNvSpPr/>
          <p:nvPr/>
        </p:nvSpPr>
        <p:spPr>
          <a:xfrm>
            <a:off x="685800" y="5425437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330949"/>
            <a:ext cx="3808323" cy="420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match</a:t>
            </a: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每个模式 DUP 后比较，分支体执行前弹出 subject</a:t>
            </a:r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"/>
                            </p:stCondLst>
                            <p:childTnLst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70"/>
                            </p:stCondLst>
                            <p:childTnLst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0"/>
                            </p:stCondLst>
                            <p:childTnLst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0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40"/>
                            </p:stCondLst>
                            <p:childTnLst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10"/>
                            </p:stCondLst>
                            <p:childTnLst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10"/>
                            </p:stCondLst>
                            <p:childTnLst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10"/>
                            </p:stCondLst>
                            <p:childTnLst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10"/>
                            </p:stCondLst>
                            <p:childTnLst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10"/>
                            </p:stCondLst>
                            <p:childTnLst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80"/>
                            </p:stCondLst>
                            <p:childTnLst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850"/>
                            </p:stCondLst>
                            <p:childTnLst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50"/>
                            </p:stCondLst>
                            <p:childTnLst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50"/>
                            </p:stCondLst>
                            <p:childTnLst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50"/>
                            </p:stCondLst>
                            <p:childTnLst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20"/>
                            </p:stCondLst>
                            <p:childTnLst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20"/>
                            </p:stCondLst>
                            <p:childTnLst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20"/>
                            </p:stCondLst>
                            <p:childTnLst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20"/>
                            </p:stCondLst>
                            <p:childTnLst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4088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9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GZG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Build a language,</a:t>
            </a:r>
          </a:p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prove it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820095" cy="6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Microsoft YaHei"/>
                <a:ea typeface="Microsoft YaHei"/>
                <a:cs typeface="Microsoft YaHei"/>
              </a:rPr>
              <a:t>GZG · 郭志罡 · 程序设计实践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70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09 /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961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 spc="300">
                <a:solidFill>
                  <a:srgbClr val="E2554F"/>
                </a:solidFill>
                <a:latin typeface="Segoe UI"/>
                <a:ea typeface="Segoe UI"/>
                <a:cs typeface="Segoe UI"/>
              </a:rPr>
              <a:t>07 · VIRTUAL MACHINE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1430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 spc="20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虚拟机：值、调用与异常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38528"/>
            <a:ext cx="3416808" cy="1865985"/>
          </a:xfrm>
          <a:prstGeom prst="roundRect">
            <a:avLst>
              <a:gd name="adj" fmla="val 5000"/>
            </a:avLst>
          </a:prstGeom>
          <a:solidFill>
            <a:srgbClr val="FFFFFF">
              <a:alpha val="5500"/>
            </a:srgbClr>
          </a:solidFill>
          <a:ln w="9525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1938528"/>
            <a:ext cx="548640" cy="30000"/>
          </a:xfrm>
          <a:prstGeom prst="rect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94560"/>
            <a:ext cx="28681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A9CBFF"/>
                </a:solidFill>
                <a:latin typeface="Georgia"/>
                <a:ea typeface="STZhongsong"/>
                <a:cs typeface="Georgia"/>
              </a:rPr>
              <a:t>16 字节带标签值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15768"/>
            <a:ext cx="2868168" cy="9515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nil / bool / int64 / double / 指针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整数与浮点分开：7 // 2 精确为 3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字符串全部驻留，相等即比指针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1208" y="1938528"/>
            <a:ext cx="3416808" cy="1865985"/>
          </a:xfrm>
          <a:prstGeom prst="roundRect">
            <a:avLst>
              <a:gd name="adj" fmla="val 5000"/>
            </a:avLst>
          </a:prstGeom>
          <a:solidFill>
            <a:srgbClr val="FFFFFF">
              <a:alpha val="5500"/>
            </a:srgbClr>
          </a:solidFill>
          <a:ln w="9525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59808" y="1938528"/>
            <a:ext cx="548640" cy="30000"/>
          </a:xfrm>
          <a:prstGeom prst="rect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5528" y="2194560"/>
            <a:ext cx="28681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A9CBFF"/>
                </a:solidFill>
                <a:latin typeface="Georgia"/>
                <a:ea typeface="STZhongsong"/>
                <a:cs typeface="Georgia"/>
              </a:rPr>
              <a:t>零拷贝调用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5528" y="2715768"/>
            <a:ext cx="2868168" cy="9515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实参已在栈上，新帧直接指向它们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参数个数匹配时走内联快速路径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obj.m() 编译为 INVOKE，不创建绑定对象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6616" y="1938528"/>
            <a:ext cx="3416808" cy="1865985"/>
          </a:xfrm>
          <a:prstGeom prst="roundRect">
            <a:avLst>
              <a:gd name="adj" fmla="val 5000"/>
            </a:avLst>
          </a:prstGeom>
          <a:solidFill>
            <a:srgbClr val="FFFFFF">
              <a:alpha val="5500"/>
            </a:srgbClr>
          </a:solidFill>
          <a:ln w="9525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05216" y="1938528"/>
            <a:ext cx="548640" cy="30000"/>
          </a:xfrm>
          <a:prstGeom prst="rect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50936" y="2194560"/>
            <a:ext cx="286816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A9CBFF"/>
                </a:solidFill>
                <a:latin typeface="Georgia"/>
                <a:ea typeface="STZhongsong"/>
                <a:cs typeface="Georgia"/>
              </a:rPr>
              <a:t>computed goto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0936" y="2715768"/>
            <a:ext cx="2868168" cy="9515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dispatch[256] 标签地址表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每条指令末尾直接跳到下一条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比 switch 少一次边界检查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125925"/>
            <a:ext cx="5239512" cy="1936546"/>
          </a:xfrm>
          <a:prstGeom prst="roundRect">
            <a:avLst>
              <a:gd name="adj" fmla="val 5000"/>
            </a:avLst>
          </a:prstGeom>
          <a:solidFill>
            <a:srgbClr val="FFFFFF">
              <a:alpha val="5500"/>
            </a:srgbClr>
          </a:solidFill>
          <a:ln w="9525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4125925"/>
            <a:ext cx="548640" cy="30000"/>
          </a:xfrm>
          <a:prstGeom prst="rect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4381957"/>
            <a:ext cx="4690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A9CBFF"/>
                </a:solidFill>
                <a:latin typeface="Georgia"/>
                <a:ea typeface="STZhongsong"/>
                <a:cs typeface="Georgia"/>
              </a:rPr>
              <a:t>异常：处理器栈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903165"/>
            <a:ext cx="4690872" cy="1022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TRY 登记（调用深度、栈顶、catch 地址）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throw 时关闭 upvalue、恢复栈与帧，再跳到 catch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原生回调（map / sort）里抛出的异常也能穿出来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53912" y="4125925"/>
            <a:ext cx="5239512" cy="1936546"/>
          </a:xfrm>
          <a:prstGeom prst="roundRect">
            <a:avLst>
              <a:gd name="adj" fmla="val 5000"/>
            </a:avLst>
          </a:prstGeom>
          <a:solidFill>
            <a:srgbClr val="FFFFFF">
              <a:alpha val="5500"/>
            </a:srgbClr>
          </a:solidFill>
          <a:ln w="9525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82512" y="4125925"/>
            <a:ext cx="548640" cy="30000"/>
          </a:xfrm>
          <a:prstGeom prst="rect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28232" y="4381957"/>
            <a:ext cx="4690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A9CBFF"/>
                </a:solidFill>
                <a:latin typeface="Georgia"/>
                <a:ea typeface="STZhongsong"/>
                <a:cs typeface="Georgia"/>
              </a:rPr>
              <a:t>有序字典（同 CPython 3.7+）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28232" y="4903165"/>
            <a:ext cx="4690872" cy="10221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条目数组按插入顺序 + 开放寻址索引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删除留墓碑，满时原地压缩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遍历顺序 = 插入顺序，输出可预测</a:t>
            </a:r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0"/>
                            </p:stCondLst>
                            <p:childTnLst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"/>
                            </p:stCondLst>
                            <p:childTnLst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70"/>
                            </p:stCondLst>
                            <p:childTnLst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40"/>
                            </p:stCondLst>
                            <p:childTnLst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40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40"/>
                            </p:stCondLst>
                            <p:childTnLst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40"/>
                            </p:stCondLst>
                            <p:childTnLst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10"/>
                            </p:stCondLst>
                            <p:childTnLst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10"/>
                            </p:stCondLst>
                            <p:childTnLst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10"/>
                            </p:stCondLst>
                            <p:childTnLst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10"/>
                            </p:stCondLst>
                            <p:childTnLst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80"/>
                            </p:stCondLst>
                            <p:childTnLst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80"/>
                            </p:stCondLst>
                            <p:childTnLst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680"/>
                            </p:stCondLst>
                            <p:childTnLst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80"/>
                            </p:stCondLst>
                            <p:childTnLst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50"/>
                            </p:stCondLst>
                            <p:childTnLst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"/>
                            </p:stCondLst>
                            <p:childTnLst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850"/>
                            </p:stCondLst>
                            <p:childTnLst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850"/>
                            </p:stCondLst>
                            <p:childTnLst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4088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9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GZG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Build a language,</a:t>
            </a:r>
          </a:p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prove it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820095" cy="6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Microsoft YaHei"/>
                <a:ea typeface="Microsoft YaHei"/>
                <a:cs typeface="Microsoft YaHei"/>
              </a:rPr>
              <a:t>GZG · 郭志罡 · 程序设计实践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70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10 /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961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 spc="300">
                <a:solidFill>
                  <a:srgbClr val="E2554F"/>
                </a:solidFill>
                <a:latin typeface="Segoe UI"/>
                <a:ea typeface="Segoe UI"/>
                <a:cs typeface="Segoe UI"/>
              </a:rPr>
              <a:t>08 ·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1430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 spc="20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三色标记-清除垃圾回收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24253" y="2322576"/>
            <a:ext cx="8030718" cy="12000"/>
          </a:xfrm>
          <a:prstGeom prst="rect">
            <a:avLst/>
          </a:prstGeom>
          <a:solidFill>
            <a:srgbClr val="FFFFFF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640205" y="1938528"/>
            <a:ext cx="768096" cy="768096"/>
          </a:xfrm>
          <a:prstGeom prst="ellipse">
            <a:avLst/>
          </a:prstGeom>
          <a:solidFill>
            <a:srgbClr val="0B1A48"/>
          </a:solidFill>
          <a:ln w="19050">
            <a:solidFill>
              <a:srgbClr val="A9CBFF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0205" y="1938528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0" i="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852928"/>
            <a:ext cx="26769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0" i="0">
                <a:solidFill>
                  <a:srgbClr val="A9CBFF"/>
                </a:solidFill>
                <a:latin typeface="Georgia"/>
                <a:ea typeface="STZhongsong"/>
                <a:cs typeface="Georgia"/>
              </a:rPr>
              <a:t>标记根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64408"/>
            <a:ext cx="2311146" cy="461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值栈 · 调用帧 · upvalue · 全局表 · 编译器</a:t>
            </a:r>
          </a:p>
        </p:txBody>
      </p:sp>
      <p:sp>
        <p:nvSpPr>
          <p:cNvPr id="19" name="Oval 18"/>
          <p:cNvSpPr/>
          <p:nvPr/>
        </p:nvSpPr>
        <p:spPr>
          <a:xfrm>
            <a:off x="4317111" y="1938528"/>
            <a:ext cx="768096" cy="768096"/>
          </a:xfrm>
          <a:prstGeom prst="ellipse">
            <a:avLst/>
          </a:prstGeom>
          <a:solidFill>
            <a:srgbClr val="0B1A48"/>
          </a:solidFill>
          <a:ln w="19050">
            <a:solidFill>
              <a:srgbClr val="A9CBFF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17111" y="1938528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0" i="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2706" y="2852928"/>
            <a:ext cx="26769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0" i="0">
                <a:solidFill>
                  <a:srgbClr val="A9CBFF"/>
                </a:solidFill>
                <a:latin typeface="Georgia"/>
                <a:ea typeface="STZhongsong"/>
                <a:cs typeface="Georgia"/>
              </a:rPr>
              <a:t>追踪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5586" y="3264408"/>
            <a:ext cx="2311146" cy="461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灰栈逐个出栈，叶子对象不入栈</a:t>
            </a:r>
          </a:p>
        </p:txBody>
      </p:sp>
      <p:sp>
        <p:nvSpPr>
          <p:cNvPr id="23" name="Oval 22"/>
          <p:cNvSpPr/>
          <p:nvPr/>
        </p:nvSpPr>
        <p:spPr>
          <a:xfrm>
            <a:off x="6994017" y="1938528"/>
            <a:ext cx="768096" cy="768096"/>
          </a:xfrm>
          <a:prstGeom prst="ellipse">
            <a:avLst/>
          </a:prstGeom>
          <a:solidFill>
            <a:srgbClr val="0B1A48"/>
          </a:solidFill>
          <a:ln w="19050">
            <a:solidFill>
              <a:srgbClr val="A9CBFF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4017" y="1938528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0" i="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9612" y="2852928"/>
            <a:ext cx="26769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0" i="0">
                <a:solidFill>
                  <a:srgbClr val="A9CBFF"/>
                </a:solidFill>
                <a:latin typeface="Georgia"/>
                <a:ea typeface="STZhongsong"/>
                <a:cs typeface="Georgia"/>
              </a:rPr>
              <a:t>清理驻留池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22492" y="3264408"/>
            <a:ext cx="2311146" cy="461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字符串池是弱引用</a:t>
            </a:r>
          </a:p>
        </p:txBody>
      </p:sp>
      <p:sp>
        <p:nvSpPr>
          <p:cNvPr id="27" name="Oval 26"/>
          <p:cNvSpPr/>
          <p:nvPr/>
        </p:nvSpPr>
        <p:spPr>
          <a:xfrm>
            <a:off x="9670923" y="1938528"/>
            <a:ext cx="768096" cy="768096"/>
          </a:xfrm>
          <a:prstGeom prst="ellipse">
            <a:avLst/>
          </a:prstGeom>
          <a:solidFill>
            <a:srgbClr val="0B1A48"/>
          </a:solidFill>
          <a:ln w="19050">
            <a:solidFill>
              <a:srgbClr val="A9CBFF">
                <a:alpha val="8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70923" y="1938528"/>
            <a:ext cx="768096" cy="7680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0" i="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16518" y="2852928"/>
            <a:ext cx="267690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0" i="0">
                <a:solidFill>
                  <a:srgbClr val="A9CBFF"/>
                </a:solidFill>
                <a:latin typeface="Georgia"/>
                <a:ea typeface="STZhongsong"/>
                <a:cs typeface="Georgia"/>
              </a:rPr>
              <a:t>清扫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9398" y="3264408"/>
            <a:ext cx="2311146" cy="461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遍历对象链表，释放未标记对象</a:t>
            </a:r>
          </a:p>
        </p:txBody>
      </p:sp>
      <p:sp>
        <p:nvSpPr>
          <p:cNvPr id="31" name="Oval 30"/>
          <p:cNvSpPr/>
          <p:nvPr/>
        </p:nvSpPr>
        <p:spPr>
          <a:xfrm>
            <a:off x="685800" y="3742232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631996"/>
            <a:ext cx="5430926" cy="4907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触发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已分配字节数超过阈值时回收；阈值 = 存活量 × 2，最小 8MB</a:t>
            </a:r>
          </a:p>
        </p:txBody>
      </p:sp>
      <p:sp>
        <p:nvSpPr>
          <p:cNvPr id="33" name="Oval 32"/>
          <p:cNvSpPr/>
          <p:nvPr/>
        </p:nvSpPr>
        <p:spPr>
          <a:xfrm>
            <a:off x="685800" y="4343195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232959"/>
            <a:ext cx="5430926" cy="4907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可观察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--stats 输出 GC 次数、耗时、分配总量、堆峰值，用数据指导调优</a:t>
            </a:r>
          </a:p>
        </p:txBody>
      </p:sp>
      <p:sp>
        <p:nvSpPr>
          <p:cNvPr id="35" name="Oval 34"/>
          <p:cNvSpPr/>
          <p:nvPr/>
        </p:nvSpPr>
        <p:spPr>
          <a:xfrm>
            <a:off x="685800" y="4944158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4833922"/>
            <a:ext cx="5430926" cy="2453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正确性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新对象在下一次分配前必须可达（先 push 到栈上）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" y="5299757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189521"/>
            <a:ext cx="5430926" cy="4907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压力测试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-DGC_STRESS 让每次分配都触发完整 GC，再跑全部测试，结果必须完全一致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25488" y="3631996"/>
            <a:ext cx="4667935" cy="2430475"/>
          </a:xfrm>
          <a:prstGeom prst="roundRect">
            <a:avLst>
              <a:gd name="adj" fmla="val 3500"/>
            </a:avLst>
          </a:prstGeom>
          <a:solidFill>
            <a:srgbClr val="050A1E">
              <a:alpha val="78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908368" y="3787444"/>
            <a:ext cx="100584" cy="100584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091248" y="3787444"/>
            <a:ext cx="100584" cy="100584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274128" y="3787444"/>
            <a:ext cx="100584" cy="100584"/>
          </a:xfrm>
          <a:prstGeom prst="ellipse">
            <a:avLst/>
          </a:prstGeom>
          <a:solidFill>
            <a:srgbClr val="5DB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94168" y="3714292"/>
            <a:ext cx="35706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gzg --stats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81520" y="4089196"/>
            <a:ext cx="4256455" cy="18818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7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$ gzg --stats bench/cases/strings.gzg</a:t>
            </a:r>
          </a:p>
          <a:p>
            <a:pPr algn="l">
              <a:lnSpc>
                <a:spcPct val="112000"/>
              </a:lnSpc>
            </a:pPr>
            <a:r>
              <a:rPr sz="97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[统计] 总耗时 0.574 秒；GC 15 次，共 0.207 秒（36.1%）；</a:t>
            </a:r>
          </a:p>
          <a:p>
            <a:pPr algn="l">
              <a:lnSpc>
                <a:spcPct val="112000"/>
              </a:lnSpc>
            </a:pPr>
            <a:r>
              <a:rPr sz="97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   累计分配 424.2 MB；堆峰值 60.4 MB</a:t>
            </a:r>
          </a:p>
          <a:p>
            <a:pPr algn="l">
              <a:lnSpc>
                <a:spcPct val="112000"/>
              </a:lnSpc>
            </a:pPr>
            <a:r>
              <a:rPr sz="97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97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$ gzg --stats bench/cases/fib.gzg</a:t>
            </a:r>
          </a:p>
          <a:p>
            <a:pPr algn="l">
              <a:lnSpc>
                <a:spcPct val="112000"/>
              </a:lnSpc>
            </a:pPr>
            <a:r>
              <a:rPr sz="97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[统计] 总耗时 0.182 秒；GC 0 次，共 0.000 秒（0.0%）；</a:t>
            </a:r>
          </a:p>
          <a:p>
            <a:pPr algn="l">
              <a:lnSpc>
                <a:spcPct val="112000"/>
              </a:lnSpc>
            </a:pPr>
            <a:r>
              <a:rPr sz="97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      累计分配 0.0 MB；堆峰值 0.0 MB</a:t>
            </a:r>
          </a:p>
          <a:p>
            <a:pPr algn="l">
              <a:lnSpc>
                <a:spcPct val="112000"/>
              </a:lnSpc>
            </a:pPr>
            <a:r>
              <a:rPr sz="97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97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# fib / loop / nbody / methods 全程零堆分配：</a:t>
            </a:r>
          </a:p>
          <a:p>
            <a:pPr algn="l">
              <a:lnSpc>
                <a:spcPct val="112000"/>
              </a:lnSpc>
            </a:pPr>
            <a:r>
              <a:rPr sz="972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# 数字是值类型，调用帧复用值栈</a:t>
            </a:r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0"/>
                            </p:stCondLst>
                            <p:childTnLst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40"/>
                            </p:stCondLst>
                            <p:childTnLst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4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40"/>
                            </p:stCondLst>
                            <p:childTnLst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40"/>
                            </p:stCondLst>
                            <p:childTnLst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10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10"/>
                            </p:stCondLst>
                            <p:childTnLst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10"/>
                            </p:stCondLst>
                            <p:childTnLst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10"/>
                            </p:stCondLst>
                            <p:childTnLst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80"/>
                            </p:stCondLst>
                            <p:childTnLst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80"/>
                            </p:stCondLst>
                            <p:childTnLst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80"/>
                            </p:stCondLst>
                            <p:childTnLst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80"/>
                            </p:stCondLst>
                            <p:childTnLst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850"/>
                            </p:stCondLst>
                            <p:childTnLst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50"/>
                            </p:stCondLst>
                            <p:childTnLst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50"/>
                            </p:stCondLst>
                            <p:childTnLst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50"/>
                            </p:stCondLst>
                            <p:childTnLst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20"/>
                            </p:stCondLst>
                            <p:childTnLst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20"/>
                            </p:stCondLst>
                            <p:childTnLst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020"/>
                            </p:stCondLst>
                            <p:childTnLst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20"/>
                            </p:stCondLst>
                            <p:childTnLst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190"/>
                            </p:stCondLst>
                            <p:childTnLst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190"/>
                            </p:stCondLst>
                            <p:childTnLst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190"/>
                            </p:stCondLst>
                            <p:childTnLst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190"/>
                            </p:stCondLst>
                            <p:childTnLst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360"/>
                            </p:stCondLst>
                            <p:childTnLst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360"/>
                            </p:stCondLst>
                            <p:childTnLst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360"/>
                            </p:stCondLst>
                            <p:childTnLst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360"/>
                            </p:stCondLst>
                            <p:childTnLst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360"/>
                            </p:stCondLst>
                            <p:childTnLst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530"/>
                            </p:stCondLst>
                            <p:childTnLst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4088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9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GZG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Build a language,</a:t>
            </a:r>
          </a:p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prove it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820095" cy="6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Microsoft YaHei"/>
                <a:ea typeface="Microsoft YaHei"/>
                <a:cs typeface="Microsoft YaHei"/>
              </a:rPr>
              <a:t>GZG · 郭志罡 · 程序设计实践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70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11 /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961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 spc="300">
                <a:solidFill>
                  <a:srgbClr val="E2554F"/>
                </a:solidFill>
                <a:latin typeface="Segoe UI"/>
                <a:ea typeface="Segoe UI"/>
                <a:cs typeface="Segoe UI"/>
              </a:rPr>
              <a:t>09 ·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1430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 spc="20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327 个黑盒测试，一个命令跑完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470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测试脚本和测试运行器 tests/run_tests.gzg 都用 GZG 编写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331720"/>
            <a:ext cx="4938369" cy="1490472"/>
          </a:xfrm>
          <a:prstGeom prst="roundRect">
            <a:avLst>
              <a:gd name="adj" fmla="val 3500"/>
            </a:avLst>
          </a:prstGeom>
          <a:solidFill>
            <a:srgbClr val="050A1E">
              <a:alpha val="78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2487168"/>
            <a:ext cx="100584" cy="100584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2487168"/>
            <a:ext cx="100584" cy="100584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4440" y="2487168"/>
            <a:ext cx="100584" cy="100584"/>
          </a:xfrm>
          <a:prstGeom prst="ellipse">
            <a:avLst/>
          </a:prstGeom>
          <a:solidFill>
            <a:srgbClr val="5DB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414016"/>
            <a:ext cx="384108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tests/errors/div_zero.gzg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788920"/>
            <a:ext cx="4526889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9EE6FF"/>
                </a:solidFill>
                <a:latin typeface="Consolas"/>
                <a:ea typeface="Microsoft YaHei"/>
                <a:cs typeface="Consolas"/>
              </a:rPr>
              <a:t>print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(</a:t>
            </a:r>
            <a:r>
              <a:rPr sz="1300" b="0" i="0">
                <a:solidFill>
                  <a:srgbClr val="F4A07A"/>
                </a:solidFill>
                <a:latin typeface="Consolas"/>
                <a:ea typeface="Microsoft YaHei"/>
                <a:cs typeface="Consolas"/>
              </a:rPr>
              <a:t>"before"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)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6D80AA"/>
                </a:solidFill>
                <a:latin typeface="Consolas"/>
                <a:ea typeface="Microsoft YaHei"/>
                <a:cs typeface="Consolas"/>
              </a:rPr>
              <a:t># expect: before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7FB2FF"/>
                </a:solidFill>
                <a:latin typeface="Consolas"/>
                <a:ea typeface="Microsoft YaHei"/>
                <a:cs typeface="Consolas"/>
              </a:rPr>
              <a:t>let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x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=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10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/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/</a:t>
            </a:r>
            <a:r>
              <a:rPr sz="1300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 </a:t>
            </a:r>
            <a:r>
              <a:rPr sz="1300" b="0" i="0">
                <a:solidFill>
                  <a:srgbClr val="E8777C"/>
                </a:solidFill>
                <a:latin typeface="Consolas"/>
                <a:ea typeface="Microsoft YaHei"/>
                <a:cs typeface="Consolas"/>
              </a:rPr>
              <a:t>0</a:t>
            </a:r>
          </a:p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D80AA"/>
                </a:solidFill>
                <a:latin typeface="Consolas"/>
                <a:ea typeface="Microsoft YaHei"/>
                <a:cs typeface="Consolas"/>
              </a:rPr>
              <a:t># expect-error: 整除的除数不能为 0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226306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123944"/>
            <a:ext cx="4709769" cy="455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比对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# expect 逐行比对 stdout；expect-error 校验 stderr 与退出码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4784343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81981"/>
            <a:ext cx="4709769" cy="455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黑盒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测试由另一个 Agent 只看语法文档编写，发现 12 处实现与文档不一致，修复 11 处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5342380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240018"/>
            <a:ext cx="4709769" cy="2278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质量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GC 压力模式双跑；gcov 行覆盖率 94.4%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4331" y="2331720"/>
            <a:ext cx="538909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各分类测试数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4331" y="2743200"/>
            <a:ext cx="105156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builtins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55891" y="2789899"/>
            <a:ext cx="3788892" cy="9339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055891" y="2789899"/>
            <a:ext cx="3788892" cy="93399"/>
          </a:xfrm>
          <a:prstGeom prst="roundRect">
            <a:avLst>
              <a:gd name="adj" fmla="val 50000"/>
            </a:avLst>
          </a:prstGeom>
          <a:solidFill>
            <a:srgbClr val="E2554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17935" y="2743200"/>
            <a:ext cx="54864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04331" y="2929998"/>
            <a:ext cx="105156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errors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055891" y="2976698"/>
            <a:ext cx="3788892" cy="9339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055891" y="2976698"/>
            <a:ext cx="3788892" cy="93399"/>
          </a:xfrm>
          <a:prstGeom prst="roundRect">
            <a:avLst>
              <a:gd name="adj" fmla="val 50000"/>
            </a:avLst>
          </a:prstGeom>
          <a:solidFill>
            <a:srgbClr val="5B95F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17935" y="2929998"/>
            <a:ext cx="54864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04331" y="3116797"/>
            <a:ext cx="105156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structs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55891" y="3163497"/>
            <a:ext cx="3788892" cy="9339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055891" y="3163497"/>
            <a:ext cx="3266286" cy="93399"/>
          </a:xfrm>
          <a:prstGeom prst="roundRect">
            <a:avLst>
              <a:gd name="adj" fmla="val 50000"/>
            </a:avLst>
          </a:prstGeom>
          <a:solidFill>
            <a:srgbClr val="5B95F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17935" y="3116797"/>
            <a:ext cx="54864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04331" y="3303596"/>
            <a:ext cx="105156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operators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55891" y="3350296"/>
            <a:ext cx="3788892" cy="9339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055891" y="3350296"/>
            <a:ext cx="3004983" cy="93399"/>
          </a:xfrm>
          <a:prstGeom prst="roundRect">
            <a:avLst>
              <a:gd name="adj" fmla="val 50000"/>
            </a:avLst>
          </a:prstGeom>
          <a:solidFill>
            <a:srgbClr val="5B95F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17935" y="3303596"/>
            <a:ext cx="54864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04331" y="3490395"/>
            <a:ext cx="105156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arrays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55891" y="3537095"/>
            <a:ext cx="3788892" cy="9339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055891" y="3537095"/>
            <a:ext cx="2874331" cy="93399"/>
          </a:xfrm>
          <a:prstGeom prst="roundRect">
            <a:avLst>
              <a:gd name="adj" fmla="val 50000"/>
            </a:avLst>
          </a:prstGeom>
          <a:solidFill>
            <a:srgbClr val="5B95F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17935" y="3490395"/>
            <a:ext cx="54864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04331" y="3677194"/>
            <a:ext cx="105156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lexer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55891" y="3723894"/>
            <a:ext cx="3788892" cy="9339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055891" y="3723894"/>
            <a:ext cx="2874331" cy="93399"/>
          </a:xfrm>
          <a:prstGeom prst="roundRect">
            <a:avLst>
              <a:gd name="adj" fmla="val 50000"/>
            </a:avLst>
          </a:prstGeom>
          <a:solidFill>
            <a:srgbClr val="5B95F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17935" y="3677194"/>
            <a:ext cx="54864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04331" y="3863993"/>
            <a:ext cx="105156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functions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055891" y="3910692"/>
            <a:ext cx="3788892" cy="9339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055891" y="3910692"/>
            <a:ext cx="2613028" cy="93399"/>
          </a:xfrm>
          <a:prstGeom prst="roundRect">
            <a:avLst>
              <a:gd name="adj" fmla="val 50000"/>
            </a:avLst>
          </a:prstGeom>
          <a:solidFill>
            <a:srgbClr val="5B95F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917935" y="3863993"/>
            <a:ext cx="54864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004331" y="4050792"/>
            <a:ext cx="105156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control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055891" y="4097491"/>
            <a:ext cx="3788892" cy="9339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7055891" y="4097491"/>
            <a:ext cx="2482377" cy="93399"/>
          </a:xfrm>
          <a:prstGeom prst="roundRect">
            <a:avLst>
              <a:gd name="adj" fmla="val 50000"/>
            </a:avLst>
          </a:prstGeom>
          <a:solidFill>
            <a:srgbClr val="5B95F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917935" y="4050792"/>
            <a:ext cx="54864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04331" y="4237590"/>
            <a:ext cx="105156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strings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055891" y="4284290"/>
            <a:ext cx="3788892" cy="9339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7055891" y="4284290"/>
            <a:ext cx="2351726" cy="93399"/>
          </a:xfrm>
          <a:prstGeom prst="roundRect">
            <a:avLst>
              <a:gd name="adj" fmla="val 50000"/>
            </a:avLst>
          </a:prstGeom>
          <a:solidFill>
            <a:srgbClr val="5B95F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917935" y="4237590"/>
            <a:ext cx="54864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04331" y="4424389"/>
            <a:ext cx="105156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types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055891" y="4471089"/>
            <a:ext cx="3788892" cy="9339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055891" y="4471089"/>
            <a:ext cx="2221074" cy="93399"/>
          </a:xfrm>
          <a:prstGeom prst="roundRect">
            <a:avLst>
              <a:gd name="adj" fmla="val 50000"/>
            </a:avLst>
          </a:prstGeom>
          <a:solidFill>
            <a:srgbClr val="5B95F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917935" y="4424389"/>
            <a:ext cx="54864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04331" y="4611188"/>
            <a:ext cx="105156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maps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055891" y="4657888"/>
            <a:ext cx="3788892" cy="9339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7055891" y="4657888"/>
            <a:ext cx="1959771" cy="93399"/>
          </a:xfrm>
          <a:prstGeom prst="roundRect">
            <a:avLst>
              <a:gd name="adj" fmla="val 50000"/>
            </a:avLst>
          </a:prstGeom>
          <a:solidFill>
            <a:srgbClr val="5B95F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917935" y="4611188"/>
            <a:ext cx="54864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04331" y="4797987"/>
            <a:ext cx="105156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chinese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055891" y="4844687"/>
            <a:ext cx="3788892" cy="9339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055891" y="4844687"/>
            <a:ext cx="1698468" cy="93399"/>
          </a:xfrm>
          <a:prstGeom prst="roundRect">
            <a:avLst>
              <a:gd name="adj" fmla="val 50000"/>
            </a:avLst>
          </a:prstGeom>
          <a:solidFill>
            <a:srgbClr val="5B95F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917935" y="4797987"/>
            <a:ext cx="54864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04331" y="4984786"/>
            <a:ext cx="105156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io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055891" y="5031485"/>
            <a:ext cx="3788892" cy="9339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055891" y="5031485"/>
            <a:ext cx="1698468" cy="93399"/>
          </a:xfrm>
          <a:prstGeom prst="roundRect">
            <a:avLst>
              <a:gd name="adj" fmla="val 50000"/>
            </a:avLst>
          </a:prstGeom>
          <a:solidFill>
            <a:srgbClr val="5B95F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917935" y="4984786"/>
            <a:ext cx="54864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04331" y="5171585"/>
            <a:ext cx="105156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match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055891" y="5218284"/>
            <a:ext cx="3788892" cy="93399"/>
          </a:xfrm>
          <a:prstGeom prst="roundRect">
            <a:avLst>
              <a:gd name="adj" fmla="val 50000"/>
            </a:avLst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7055891" y="5218284"/>
            <a:ext cx="1567817" cy="93399"/>
          </a:xfrm>
          <a:prstGeom prst="roundRect">
            <a:avLst>
              <a:gd name="adj" fmla="val 50000"/>
            </a:avLst>
          </a:prstGeom>
          <a:solidFill>
            <a:srgbClr val="5B95F7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917935" y="5171585"/>
            <a:ext cx="548640" cy="1867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004331" y="5628132"/>
            <a:ext cx="1399032" cy="365760"/>
          </a:xfrm>
          <a:prstGeom prst="roundRect">
            <a:avLst>
              <a:gd name="adj" fmla="val 50000"/>
            </a:avLst>
          </a:prstGeom>
          <a:solidFill>
            <a:srgbClr val="5B95F7">
              <a:alpha val="16000"/>
            </a:srgbClr>
          </a:solidFill>
          <a:ln w="9525">
            <a:solidFill>
              <a:srgbClr val="A9CB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04331" y="5628132"/>
            <a:ext cx="139903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327/327 通过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31379" y="5628132"/>
            <a:ext cx="1581912" cy="365760"/>
          </a:xfrm>
          <a:prstGeom prst="roundRect">
            <a:avLst>
              <a:gd name="adj" fmla="val 50000"/>
            </a:avLst>
          </a:prstGeom>
          <a:solidFill>
            <a:srgbClr val="5B95F7">
              <a:alpha val="16000"/>
            </a:srgbClr>
          </a:solidFill>
          <a:ln w="9525">
            <a:solidFill>
              <a:srgbClr val="A9CB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531379" y="5628132"/>
            <a:ext cx="158191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GC 压力模式通过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9241307" y="5628132"/>
            <a:ext cx="1380744" cy="365760"/>
          </a:xfrm>
          <a:prstGeom prst="roundRect">
            <a:avLst>
              <a:gd name="adj" fmla="val 50000"/>
            </a:avLst>
          </a:prstGeom>
          <a:solidFill>
            <a:srgbClr val="5B95F7">
              <a:alpha val="16000"/>
            </a:srgbClr>
          </a:solidFill>
          <a:ln w="9525">
            <a:solidFill>
              <a:srgbClr val="A9CB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241307" y="5628132"/>
            <a:ext cx="138074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覆盖率 94.4%</a:t>
            </a:r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0"/>
                            </p:stCondLst>
                            <p:childTnLst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3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30"/>
                            </p:stCondLst>
                            <p:childTnLst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30"/>
                            </p:stCondLst>
                            <p:childTnLst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30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60"/>
                            </p:stCondLst>
                            <p:childTnLst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90"/>
                            </p:stCondLst>
                            <p:childTnLst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90"/>
                            </p:stCondLst>
                            <p:childTnLst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90"/>
                            </p:stCondLst>
                            <p:childTnLst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90"/>
                            </p:stCondLst>
                            <p:childTnLst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20"/>
                            </p:stCondLst>
                            <p:childTnLst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20"/>
                            </p:stCondLst>
                            <p:childTnLst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50"/>
                            </p:stCondLst>
                            <p:childTnLst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650"/>
                            </p:stCondLst>
                            <p:childTnLst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50"/>
                            </p:stCondLst>
                            <p:childTnLst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50"/>
                            </p:stCondLst>
                            <p:childTnLst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650"/>
                            </p:stCondLst>
                            <p:childTnLst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780"/>
                            </p:stCondLst>
                            <p:childTnLst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780"/>
                            </p:stCondLst>
                            <p:childTnLst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780"/>
                            </p:stCondLst>
                            <p:childTnLst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80"/>
                            </p:stCondLst>
                            <p:childTnLst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910"/>
                            </p:stCondLst>
                            <p:childTnLst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910"/>
                            </p:stCondLst>
                            <p:childTnLst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910"/>
                            </p:stCondLst>
                            <p:childTnLst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910"/>
                            </p:stCondLst>
                            <p:childTnLst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040"/>
                            </p:stCondLst>
                            <p:childTnLst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040"/>
                            </p:stCondLst>
                            <p:childTnLst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040"/>
                            </p:stCondLst>
                            <p:childTnLst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040"/>
                            </p:stCondLst>
                            <p:childTnLst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170"/>
                            </p:stCondLst>
                            <p:childTnLst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170"/>
                            </p:stCondLst>
                            <p:childTnLst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170"/>
                            </p:stCondLst>
                            <p:childTnLst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6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170"/>
                            </p:stCondLst>
                            <p:childTnLst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6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300"/>
                            </p:stCondLst>
                            <p:childTnLst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6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300"/>
                            </p:stCondLst>
                            <p:childTnLst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300"/>
                            </p:stCondLst>
                            <p:childTnLst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6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300"/>
                            </p:stCondLst>
                            <p:childTnLst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430"/>
                            </p:stCondLst>
                            <p:childTnLst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6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1430"/>
                            </p:stCondLst>
                            <p:childTnLst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6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1430"/>
                            </p:stCondLst>
                            <p:childTnLst>
                              <p:par>
                                <p:cTn id="2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6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1430"/>
                            </p:stCondLst>
                            <p:childTnLst>
                              <p:par>
                                <p:cTn id="2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1560"/>
                            </p:stCondLst>
                            <p:childTnLst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6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1560"/>
                            </p:stCondLst>
                            <p:childTnLst>
                              <p:par>
                                <p:cTn id="2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1560"/>
                            </p:stCondLst>
                            <p:childTnLst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1560"/>
                            </p:stCondLst>
                            <p:childTnLst>
                              <p:par>
                                <p:cTn id="2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1690"/>
                            </p:stCondLst>
                            <p:childTnLst>
                              <p:par>
                                <p:cTn id="2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1690"/>
                            </p:stCondLst>
                            <p:childTnLst>
                              <p:par>
                                <p:cTn id="2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1690"/>
                            </p:stCondLst>
                            <p:childTnLst>
                              <p:par>
                                <p:cTn id="2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1690"/>
                            </p:stCondLst>
                            <p:childTnLst>
                              <p:par>
                                <p:cTn id="2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1820"/>
                            </p:stCondLst>
                            <p:childTnLst>
                              <p:par>
                                <p:cTn id="2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1820"/>
                            </p:stCondLst>
                            <p:childTnLst>
                              <p:par>
                                <p:cTn id="2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1820"/>
                            </p:stCondLst>
                            <p:childTnLst>
                              <p:par>
                                <p:cTn id="2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3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1820"/>
                            </p:stCondLst>
                            <p:childTnLst>
                              <p:par>
                                <p:cTn id="2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8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1950"/>
                            </p:stCondLst>
                            <p:childTnLst>
                              <p:par>
                                <p:cTn id="2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1950"/>
                            </p:stCondLst>
                            <p:childTnLst>
                              <p:par>
                                <p:cTn id="2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8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1950"/>
                            </p:stCondLst>
                            <p:childTnLst>
                              <p:par>
                                <p:cTn id="2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1950"/>
                            </p:stCondLst>
                            <p:childTnLst>
                              <p:par>
                                <p:cTn id="3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8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2080"/>
                            </p:stCondLst>
                            <p:childTnLst>
                              <p:par>
                                <p:cTn id="3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6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3" dur="6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9" fill="hold">
                            <p:stCondLst>
                              <p:cond delay="2080"/>
                            </p:stCondLst>
                            <p:childTnLst>
                              <p:par>
                                <p:cTn id="3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2" dur="6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8" dur="6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4" fill="hold">
                            <p:stCondLst>
                              <p:cond delay="2080"/>
                            </p:stCondLst>
                            <p:childTnLst>
                              <p:par>
                                <p:cTn id="3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6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3" dur="6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9" fill="hold">
                            <p:stCondLst>
                              <p:cond delay="2080"/>
                            </p:stCondLst>
                            <p:childTnLst>
                              <p:par>
                                <p:cTn id="3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6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8" dur="6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4" fill="hold">
                            <p:stCondLst>
                              <p:cond delay="2210"/>
                            </p:stCondLst>
                            <p:childTnLst>
                              <p:par>
                                <p:cTn id="3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6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3" dur="6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>
                            <p:stCondLst>
                              <p:cond delay="2210"/>
                            </p:stCondLst>
                            <p:childTnLst>
                              <p:par>
                                <p:cTn id="3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6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8" dur="6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4" fill="hold">
                            <p:stCondLst>
                              <p:cond delay="2210"/>
                            </p:stCondLst>
                            <p:childTnLst>
                              <p:par>
                                <p:cTn id="3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6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3" dur="6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9" fill="hold">
                            <p:stCondLst>
                              <p:cond delay="2210"/>
                            </p:stCondLst>
                            <p:childTnLst>
                              <p:par>
                                <p:cTn id="3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2" dur="6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8" dur="6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4" fill="hold">
                            <p:stCondLst>
                              <p:cond delay="2340"/>
                            </p:stCondLst>
                            <p:childTnLst>
                              <p:par>
                                <p:cTn id="3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7" dur="6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3" dur="6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9" fill="hold">
                            <p:stCondLst>
                              <p:cond delay="2340"/>
                            </p:stCondLst>
                            <p:childTnLst>
                              <p:par>
                                <p:cTn id="3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6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8" dur="6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4" fill="hold">
                            <p:stCondLst>
                              <p:cond delay="2340"/>
                            </p:stCondLst>
                            <p:childTnLst>
                              <p:par>
                                <p:cTn id="3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7" dur="6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3" dur="6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2340"/>
                            </p:stCondLst>
                            <p:childTnLst>
                              <p:par>
                                <p:cTn id="3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2" dur="6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8" dur="6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4" fill="hold">
                            <p:stCondLst>
                              <p:cond delay="2470"/>
                            </p:stCondLst>
                            <p:childTnLst>
                              <p:par>
                                <p:cTn id="3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7" dur="6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3" dur="6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9" fill="hold">
                            <p:stCondLst>
                              <p:cond delay="2470"/>
                            </p:stCondLst>
                            <p:childTnLst>
                              <p:par>
                                <p:cTn id="3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2" dur="6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8" dur="6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4" fill="hold">
                            <p:stCondLst>
                              <p:cond delay="2470"/>
                            </p:stCondLst>
                            <p:childTnLst>
                              <p:par>
                                <p:cTn id="3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7" dur="6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3" dur="6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9" fill="hold">
                            <p:stCondLst>
                              <p:cond delay="2470"/>
                            </p:stCondLst>
                            <p:childTnLst>
                              <p:par>
                                <p:cTn id="3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2" dur="6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8" dur="6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4" fill="hold">
                            <p:stCondLst>
                              <p:cond delay="2470"/>
                            </p:stCondLst>
                            <p:childTnLst>
                              <p:par>
                                <p:cTn id="3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7" dur="6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3" dur="6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9" fill="hold">
                            <p:stCondLst>
                              <p:cond delay="2470"/>
                            </p:stCondLst>
                            <p:childTnLst>
                              <p:par>
                                <p:cTn id="3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2" dur="6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8" dur="6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4088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9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GZG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Build a language,</a:t>
            </a:r>
          </a:p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prove it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820095" cy="6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Microsoft YaHei"/>
                <a:ea typeface="Microsoft YaHei"/>
                <a:cs typeface="Microsoft YaHei"/>
              </a:rPr>
              <a:t>GZG · 郭志罡 · 程序设计实践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70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12 /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961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 spc="300">
                <a:solidFill>
                  <a:srgbClr val="E2554F"/>
                </a:solidFill>
                <a:latin typeface="Segoe UI"/>
                <a:ea typeface="Segoe UI"/>
                <a:cs typeface="Segoe UI"/>
              </a:rPr>
              <a:t>10 · 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1430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 spc="20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GZG vs CPython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470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9 组同功能脚本，输出逐字校验一致；每项 5 次取中位数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85800" y="2331720"/>
          <a:ext cx="6741261" cy="373075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Rectangle 15"/>
          <p:cNvSpPr/>
          <p:nvPr/>
        </p:nvSpPr>
        <p:spPr>
          <a:xfrm>
            <a:off x="7807223" y="2331720"/>
            <a:ext cx="3586200" cy="372618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16951" y="2331720"/>
            <a:ext cx="890558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用例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6965" y="2331720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GZG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80822" y="2331720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Python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34679" y="2331720"/>
            <a:ext cx="549015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倍数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07223" y="2698338"/>
            <a:ext cx="3586200" cy="9000"/>
          </a:xfrm>
          <a:prstGeom prst="rect">
            <a:avLst/>
          </a:prstGeom>
          <a:solidFill>
            <a:srgbClr val="E2554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16951" y="2704338"/>
            <a:ext cx="890558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6965" y="2704338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0.201s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80822" y="2704338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0.278s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34679" y="2704338"/>
            <a:ext cx="549015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1.39×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07223" y="3070956"/>
            <a:ext cx="3586200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16951" y="3076956"/>
            <a:ext cx="890558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fib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6965" y="3076956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0.251s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80822" y="3076956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0.348s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34679" y="3076956"/>
            <a:ext cx="549015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1.39×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07223" y="3443574"/>
            <a:ext cx="3586200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16951" y="3449574"/>
            <a:ext cx="890558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6965" y="3449574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0.150s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80822" y="3449574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0.474s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34679" y="3449574"/>
            <a:ext cx="549015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3.16×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07223" y="3816192"/>
            <a:ext cx="3586200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16951" y="3822192"/>
            <a:ext cx="890558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methods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26965" y="3822192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0.119s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80822" y="3822192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0.195s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34679" y="3822192"/>
            <a:ext cx="549015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1.63×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07223" y="4188810"/>
            <a:ext cx="3586200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16951" y="4194810"/>
            <a:ext cx="890558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nbody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26965" y="4194810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0.359s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80822" y="4194810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0.562s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34679" y="4194810"/>
            <a:ext cx="549015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1.56×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07223" y="4561428"/>
            <a:ext cx="3586200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16951" y="4567428"/>
            <a:ext cx="890558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quicksort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26965" y="4567428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0.365s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80822" y="4567428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0.619s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34679" y="4567428"/>
            <a:ext cx="549015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1.70×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07223" y="4934046"/>
            <a:ext cx="3586200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16951" y="4940046"/>
            <a:ext cx="890558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sieve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26965" y="4940046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0.508s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880822" y="4940046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1.136s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34679" y="4940046"/>
            <a:ext cx="549015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2.23×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07223" y="5306664"/>
            <a:ext cx="3586200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916951" y="5312664"/>
            <a:ext cx="890558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strings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26965" y="5312664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0.612s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80822" y="5312664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0.169s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34679" y="5312664"/>
            <a:ext cx="549015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0.28×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07223" y="5679282"/>
            <a:ext cx="3586200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16951" y="5685282"/>
            <a:ext cx="890558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wordfreq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26965" y="5685282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0.212s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80822" y="5685282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0.284s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34679" y="5685282"/>
            <a:ext cx="549015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1.34×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07223" y="6051900"/>
            <a:ext cx="3586200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916951" y="6057900"/>
            <a:ext cx="890558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>
                <a:solidFill>
                  <a:srgbClr val="F2A65A"/>
                </a:solidFill>
                <a:latin typeface="Microsoft YaHei"/>
                <a:ea typeface="Microsoft YaHei"/>
                <a:cs typeface="Microsoft YaHei"/>
              </a:rPr>
              <a:t>几何平均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26965" y="6057900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F2A65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80822" y="6057900"/>
            <a:ext cx="634401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F2A65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734679" y="6057900"/>
            <a:ext cx="549015" cy="3726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8000"/>
              </a:lnSpc>
            </a:pPr>
            <a:r>
              <a:rPr sz="1000" b="0" i="0">
                <a:solidFill>
                  <a:srgbClr val="F2A65A"/>
                </a:solidFill>
                <a:latin typeface="Microsoft YaHei"/>
                <a:ea typeface="Microsoft YaHei"/>
                <a:cs typeface="Microsoft YaHei"/>
              </a:rPr>
              <a:t>1.41×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807223" y="6424518"/>
            <a:ext cx="3586200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"/>
                            </p:stCondLst>
                            <p:childTnLst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4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40"/>
                            </p:stCondLst>
                            <p:childTnLst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40"/>
                            </p:stCondLst>
                            <p:childTnLst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40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40"/>
                            </p:stCondLst>
                            <p:childTnLst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40"/>
                            </p:stCondLst>
                            <p:childTnLst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10"/>
                            </p:stCondLst>
                            <p:childTnLst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10"/>
                            </p:stCondLst>
                            <p:childTnLst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10"/>
                            </p:stCondLst>
                            <p:childTnLst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10"/>
                            </p:stCondLst>
                            <p:childTnLst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10"/>
                            </p:stCondLst>
                            <p:childTnLst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80"/>
                            </p:stCondLst>
                            <p:childTnLst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680"/>
                            </p:stCondLst>
                            <p:childTnLst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80"/>
                            </p:stCondLst>
                            <p:childTnLst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80"/>
                            </p:stCondLst>
                            <p:childTnLst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680"/>
                            </p:stCondLst>
                            <p:childTnLst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850"/>
                            </p:stCondLst>
                            <p:childTnLst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850"/>
                            </p:stCondLst>
                            <p:childTnLst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850"/>
                            </p:stCondLst>
                            <p:childTnLst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850"/>
                            </p:stCondLst>
                            <p:childTnLst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850"/>
                            </p:stCondLst>
                            <p:childTnLst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20"/>
                            </p:stCondLst>
                            <p:childTnLst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20"/>
                            </p:stCondLst>
                            <p:childTnLst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020"/>
                            </p:stCondLst>
                            <p:childTnLst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020"/>
                            </p:stCondLst>
                            <p:childTnLst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020"/>
                            </p:stCondLst>
                            <p:childTnLst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190"/>
                            </p:stCondLst>
                            <p:childTnLst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190"/>
                            </p:stCondLst>
                            <p:childTnLst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190"/>
                            </p:stCondLst>
                            <p:childTnLst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190"/>
                            </p:stCondLst>
                            <p:childTnLst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1190"/>
                            </p:stCondLst>
                            <p:childTnLst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6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1360"/>
                            </p:stCondLst>
                            <p:childTnLst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6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360"/>
                            </p:stCondLst>
                            <p:childTnLst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6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360"/>
                            </p:stCondLst>
                            <p:childTnLst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360"/>
                            </p:stCondLst>
                            <p:childTnLst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6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360"/>
                            </p:stCondLst>
                            <p:childTnLst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530"/>
                            </p:stCondLst>
                            <p:childTnLst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6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1530"/>
                            </p:stCondLst>
                            <p:childTnLst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6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1530"/>
                            </p:stCondLst>
                            <p:childTnLst>
                              <p:par>
                                <p:cTn id="2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6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1530"/>
                            </p:stCondLst>
                            <p:childTnLst>
                              <p:par>
                                <p:cTn id="2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1530"/>
                            </p:stCondLst>
                            <p:childTnLst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6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1700"/>
                            </p:stCondLst>
                            <p:childTnLst>
                              <p:par>
                                <p:cTn id="2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1700"/>
                            </p:stCondLst>
                            <p:childTnLst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1700"/>
                            </p:stCondLst>
                            <p:childTnLst>
                              <p:par>
                                <p:cTn id="2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1700"/>
                            </p:stCondLst>
                            <p:childTnLst>
                              <p:par>
                                <p:cTn id="2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1700"/>
                            </p:stCondLst>
                            <p:childTnLst>
                              <p:par>
                                <p:cTn id="2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1870"/>
                            </p:stCondLst>
                            <p:childTnLst>
                              <p:par>
                                <p:cTn id="2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1870"/>
                            </p:stCondLst>
                            <p:childTnLst>
                              <p:par>
                                <p:cTn id="2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1870"/>
                            </p:stCondLst>
                            <p:childTnLst>
                              <p:par>
                                <p:cTn id="2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1870"/>
                            </p:stCondLst>
                            <p:childTnLst>
                              <p:par>
                                <p:cTn id="2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1870"/>
                            </p:stCondLst>
                            <p:childTnLst>
                              <p:par>
                                <p:cTn id="2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3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2040"/>
                            </p:stCondLst>
                            <p:childTnLst>
                              <p:par>
                                <p:cTn id="2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8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2040"/>
                            </p:stCondLst>
                            <p:childTnLst>
                              <p:par>
                                <p:cTn id="2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2040"/>
                            </p:stCondLst>
                            <p:childTnLst>
                              <p:par>
                                <p:cTn id="2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8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2040"/>
                            </p:stCondLst>
                            <p:childTnLst>
                              <p:par>
                                <p:cTn id="2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2040"/>
                            </p:stCondLst>
                            <p:childTnLst>
                              <p:par>
                                <p:cTn id="3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2" dur="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8" dur="6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4088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9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GZG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Build a language,</a:t>
            </a:r>
          </a:p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prove it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820095" cy="6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Microsoft YaHei"/>
                <a:ea typeface="Microsoft YaHei"/>
                <a:cs typeface="Microsoft YaHei"/>
              </a:rPr>
              <a:t>GZG · 郭志罡 · 程序设计实践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70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13 /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961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 spc="300">
                <a:solidFill>
                  <a:srgbClr val="E2554F"/>
                </a:solidFill>
                <a:latin typeface="Segoe UI"/>
                <a:ea typeface="Segoe UI"/>
                <a:cs typeface="Segoe UI"/>
              </a:rPr>
              <a:t>11 ·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1430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 spc="20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快在哪里，慢在哪里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938528"/>
            <a:ext cx="5239512" cy="4123944"/>
          </a:xfrm>
          <a:prstGeom prst="roundRect">
            <a:avLst>
              <a:gd name="adj" fmla="val 5000"/>
            </a:avLst>
          </a:prstGeom>
          <a:solidFill>
            <a:srgbClr val="FFFFFF">
              <a:alpha val="5500"/>
            </a:srgbClr>
          </a:solidFill>
          <a:ln w="9525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1938528"/>
            <a:ext cx="548640" cy="30000"/>
          </a:xfrm>
          <a:prstGeom prst="rect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194560"/>
            <a:ext cx="4690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A9CBFF"/>
                </a:solidFill>
                <a:latin typeface="Georgia"/>
                <a:ea typeface="STZhongsong"/>
                <a:cs typeface="Georgia"/>
              </a:rPr>
              <a:t>为什么多数场景比 CPython 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715768"/>
            <a:ext cx="4690872" cy="3209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数字是值类型：不需要堆分配和引用计数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变量在编译期解析成下标，运行时不查字典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数值 for 循环用专用指令：loop 快 3.2 倍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computed goto + 调用快速路径：fib 快 1.4 倍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E2554F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fib / loop / nbody / methods 全程零堆分配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3912" y="1938528"/>
            <a:ext cx="5239512" cy="4123944"/>
          </a:xfrm>
          <a:prstGeom prst="roundRect">
            <a:avLst>
              <a:gd name="adj" fmla="val 5000"/>
            </a:avLst>
          </a:prstGeom>
          <a:solidFill>
            <a:srgbClr val="FFFFFF">
              <a:alpha val="5500"/>
            </a:srgbClr>
          </a:solidFill>
          <a:ln w="9525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82512" y="1938528"/>
            <a:ext cx="548640" cy="30000"/>
          </a:xfrm>
          <a:prstGeom prst="rect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2194560"/>
            <a:ext cx="46908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0" i="0">
                <a:solidFill>
                  <a:srgbClr val="F2A65A"/>
                </a:solidFill>
                <a:latin typeface="Georgia"/>
                <a:ea typeface="STZhongsong"/>
                <a:cs typeface="Georgia"/>
              </a:rPr>
              <a:t>strings 为什么慢（根因与取舍）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715768"/>
            <a:ext cx="4690872" cy="3209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F2A65A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--stats 显示 GC 占 36%，累计分配 424MB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F2A65A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热点是 2 万次 s += "ab"：GZG 字符串不可变且驻留，每次拼接都复制整串，O(n²)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F2A65A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CPython 在引用计数为 1 时原地 realloc 追加，均摊 O(1)；关掉这个优化（多留一个引用）后 CPython 也要 0.15s，与 GZG 的 0.16s 相当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F2A65A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20 万个存活字符串让每次标记-清除扫描约 15ms；引用计数则无需扫描存活对象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F2A65A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已优化：拼接只复制一次 + 8 字节哈希，拼接段 0.63s → 0.16s；叶子对象不入灰栈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300" b="0" i="0">
                <a:solidFill>
                  <a:srgbClr val="F2A65A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3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推荐写法 parts.push(x) + parts.join("")：20 万片段只需 8ms</a:t>
            </a:r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0"/>
                            </p:stCondLst>
                            <p:childTnLst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"/>
                            </p:stCondLst>
                            <p:childTnLst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70"/>
                            </p:stCondLst>
                            <p:childTnLst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40"/>
                            </p:stCondLst>
                            <p:childTnLst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40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40"/>
                            </p:stCondLst>
                            <p:childTnLst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40"/>
                            </p:stCondLst>
                            <p:childTnLst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4088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9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GZG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Build a language,</a:t>
            </a:r>
          </a:p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prove it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820095" cy="6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Microsoft YaHei"/>
                <a:ea typeface="Microsoft YaHei"/>
                <a:cs typeface="Microsoft YaHei"/>
              </a:rPr>
              <a:t>GZG · 郭志罡 · 程序设计实践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70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14 /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961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 spc="300">
                <a:solidFill>
                  <a:srgbClr val="E2554F"/>
                </a:solidFill>
                <a:latin typeface="Segoe UI"/>
                <a:ea typeface="Segoe UI"/>
                <a:cs typeface="Segoe UI"/>
              </a:rPr>
              <a:t>12 · AI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1430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 spc="20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让 Agent 写对一门没见过的语言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938528"/>
            <a:ext cx="6200394" cy="406984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1938528"/>
            <a:ext cx="2437855" cy="4069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2839" y="1938528"/>
            <a:ext cx="3323626" cy="4069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2339512"/>
            <a:ext cx="6200394" cy="9000"/>
          </a:xfrm>
          <a:prstGeom prst="rect">
            <a:avLst/>
          </a:prstGeom>
          <a:solidFill>
            <a:srgbClr val="E2554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2345512"/>
            <a:ext cx="2437855" cy="6127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.claude/skills/gzg/SKILL.md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52839" y="2345512"/>
            <a:ext cx="3323626" cy="6127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Claude Code 技能：速览 + 18 条与 Python/JS 的差异 + 性能提示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2952236"/>
            <a:ext cx="6200394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8" y="2958236"/>
            <a:ext cx="2437855" cy="4069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reference.md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2839" y="2958236"/>
            <a:ext cx="3323626" cy="4069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全部内建函数与方法：签名、返回值、边界行为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3359220"/>
            <a:ext cx="6200394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5528" y="3365220"/>
            <a:ext cx="2437855" cy="4069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pitfalls.md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2839" y="3365220"/>
            <a:ext cx="3323626" cy="4069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报错信息 → 原因 → 改法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766204"/>
            <a:ext cx="6200394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3772204"/>
            <a:ext cx="2437855" cy="6127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AGENTS.md / CLAUDE.md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52839" y="3772204"/>
            <a:ext cx="3323626" cy="6127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通用 Agent 入口：构建、测试、目录、修改规范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378928"/>
            <a:ext cx="6200394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4384928"/>
            <a:ext cx="2437855" cy="4069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FFFF"/>
                </a:solidFill>
                <a:latin typeface="Consolas"/>
                <a:ea typeface="Microsoft YaHei"/>
                <a:cs typeface="Consolas"/>
              </a:rPr>
              <a:t>docs/GZG语法规则.md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2839" y="4384928"/>
            <a:ext cx="3323626" cy="4069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完整规范与 EBNF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785912"/>
            <a:ext cx="6200394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266355" y="2048764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94955" y="1938528"/>
            <a:ext cx="3898468" cy="4907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先给代码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能直接照抄的片段放在最前，再讲规则</a:t>
            </a:r>
          </a:p>
        </p:txBody>
      </p:sp>
      <p:sp>
        <p:nvSpPr>
          <p:cNvPr id="35" name="Oval 34"/>
          <p:cNvSpPr/>
          <p:nvPr/>
        </p:nvSpPr>
        <p:spPr>
          <a:xfrm>
            <a:off x="7266355" y="2649727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4955" y="2539491"/>
            <a:ext cx="3898468" cy="4907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写差异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Agent 的错误几乎都来自迁移习惯，所以按“与你熟悉的语言哪里不同”组织</a:t>
            </a:r>
          </a:p>
        </p:txBody>
      </p:sp>
      <p:sp>
        <p:nvSpPr>
          <p:cNvPr id="37" name="Oval 36"/>
          <p:cNvSpPr/>
          <p:nvPr/>
        </p:nvSpPr>
        <p:spPr>
          <a:xfrm>
            <a:off x="7266355" y="3250690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4955" y="3140454"/>
            <a:ext cx="3898468" cy="4907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报错即文档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解释器会提示 append→push、None→nil</a:t>
            </a:r>
          </a:p>
        </p:txBody>
      </p:sp>
      <p:sp>
        <p:nvSpPr>
          <p:cNvPr id="39" name="Oval 38"/>
          <p:cNvSpPr/>
          <p:nvPr/>
        </p:nvSpPr>
        <p:spPr>
          <a:xfrm>
            <a:off x="7266355" y="3851653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94955" y="3741417"/>
            <a:ext cx="3898468" cy="4907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鼓励实测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不确定就 gzg -e 跑一下，不要猜</a:t>
            </a:r>
          </a:p>
        </p:txBody>
      </p:sp>
      <p:sp>
        <p:nvSpPr>
          <p:cNvPr id="41" name="Oval 40"/>
          <p:cNvSpPr/>
          <p:nvPr/>
        </p:nvSpPr>
        <p:spPr>
          <a:xfrm>
            <a:off x="7266355" y="4452616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4955" y="4342380"/>
            <a:ext cx="3898468" cy="4907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闭环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新 Agent 只读这三份文档开发 2048，按它的开发记录修订文档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85800" y="5186933"/>
            <a:ext cx="38000" cy="802386"/>
          </a:xfrm>
          <a:prstGeom prst="rect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5113781"/>
            <a:ext cx="5926074" cy="9486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测试 Agent 只看语法文档，应用 Agent 只看 Skill 文档——它们踩到的坑，就是文档还缺的地方。</a:t>
            </a:r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0"/>
                            </p:stCondLst>
                            <p:childTnLst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"/>
                            </p:stCondLst>
                            <p:childTnLst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70"/>
                            </p:stCondLst>
                            <p:childTnLst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40"/>
                            </p:stCondLst>
                            <p:childTnLst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40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40"/>
                            </p:stCondLst>
                            <p:childTnLst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10"/>
                            </p:stCondLst>
                            <p:childTnLst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10"/>
                            </p:stCondLst>
                            <p:childTnLst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10"/>
                            </p:stCondLst>
                            <p:childTnLst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80"/>
                            </p:stCondLst>
                            <p:childTnLst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80"/>
                            </p:stCondLst>
                            <p:childTnLst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80"/>
                            </p:stCondLst>
                            <p:childTnLst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850"/>
                            </p:stCondLst>
                            <p:childTnLst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50"/>
                            </p:stCondLst>
                            <p:childTnLst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50"/>
                            </p:stCondLst>
                            <p:childTnLst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20"/>
                            </p:stCondLst>
                            <p:childTnLst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20"/>
                            </p:stCondLst>
                            <p:childTnLst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20"/>
                            </p:stCondLst>
                            <p:childTnLst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190"/>
                            </p:stCondLst>
                            <p:childTnLst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190"/>
                            </p:stCondLst>
                            <p:childTnLst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190"/>
                            </p:stCondLst>
                            <p:childTnLst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190"/>
                            </p:stCondLst>
                            <p:childTnLst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360"/>
                            </p:stCondLst>
                            <p:childTnLst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360"/>
                            </p:stCondLst>
                            <p:childTnLst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360"/>
                            </p:stCondLst>
                            <p:childTnLst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360"/>
                            </p:stCondLst>
                            <p:childTnLst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530"/>
                            </p:stCondLst>
                            <p:childTnLst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530"/>
                            </p:stCondLst>
                            <p:childTnLst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700"/>
                            </p:stCondLst>
                            <p:childTnLst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700"/>
                            </p:stCondLst>
                            <p:childTnLst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4088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9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GZG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Build a language,</a:t>
            </a:r>
          </a:p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prove it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820095" cy="6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Microsoft YaHei"/>
                <a:ea typeface="Microsoft YaHei"/>
                <a:cs typeface="Microsoft YaHei"/>
              </a:rPr>
              <a:t>GZG · 郭志罡 · 程序设计实践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70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15 /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961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 spc="300">
                <a:solidFill>
                  <a:srgbClr val="E2554F"/>
                </a:solidFill>
                <a:latin typeface="Segoe UI"/>
                <a:ea typeface="Segoe UI"/>
                <a:cs typeface="Segoe UI"/>
              </a:rPr>
              <a:t>13 · APPLICATION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1430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 spc="20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Agent 开发的 2048 + Expectimax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470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一个只读过 Skill 文档、没看过解释器源码的 Agent 独立开发：925 行 GZG，5 次阶段性提交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3061" y="2331720"/>
            <a:ext cx="3182112" cy="3182112"/>
          </a:xfrm>
          <a:prstGeom prst="roundRect">
            <a:avLst>
              <a:gd name="adj" fmla="val 4000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118524" y="2427183"/>
            <a:ext cx="676198" cy="676198"/>
          </a:xfrm>
          <a:prstGeom prst="roundRect">
            <a:avLst>
              <a:gd name="adj" fmla="val 8000"/>
            </a:avLst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8524" y="2427183"/>
            <a:ext cx="676198" cy="676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16384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90186" y="2427183"/>
            <a:ext cx="676198" cy="676198"/>
          </a:xfrm>
          <a:prstGeom prst="roundRect">
            <a:avLst>
              <a:gd name="adj" fmla="val 8000"/>
            </a:avLst>
          </a:prstGeom>
          <a:solidFill>
            <a:srgbClr val="D848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90186" y="2427183"/>
            <a:ext cx="676198" cy="676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4096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61848" y="2427183"/>
            <a:ext cx="676198" cy="676198"/>
          </a:xfrm>
          <a:prstGeom prst="roundRect">
            <a:avLst>
              <a:gd name="adj" fmla="val 8000"/>
            </a:avLst>
          </a:prstGeom>
          <a:solidFill>
            <a:srgbClr val="5A8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61848" y="2427183"/>
            <a:ext cx="676198" cy="676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33510" y="2427183"/>
            <a:ext cx="676198" cy="676198"/>
          </a:xfrm>
          <a:prstGeom prst="roundRect">
            <a:avLst>
              <a:gd name="adj" fmla="val 8000"/>
            </a:avLst>
          </a:prstGeom>
          <a:solidFill>
            <a:srgbClr val="1E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33510" y="2427183"/>
            <a:ext cx="676198" cy="676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8524" y="3198845"/>
            <a:ext cx="676198" cy="676198"/>
          </a:xfrm>
          <a:prstGeom prst="roundRect">
            <a:avLst>
              <a:gd name="adj" fmla="val 8000"/>
            </a:avLst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8524" y="3198845"/>
            <a:ext cx="676198" cy="676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2048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90186" y="3198845"/>
            <a:ext cx="676198" cy="676198"/>
          </a:xfrm>
          <a:prstGeom prst="roundRect">
            <a:avLst>
              <a:gd name="adj" fmla="val 8000"/>
            </a:avLst>
          </a:prstGeom>
          <a:solidFill>
            <a:srgbClr val="6A9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90186" y="3198845"/>
            <a:ext cx="676198" cy="676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1024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61848" y="3198845"/>
            <a:ext cx="676198" cy="676198"/>
          </a:xfrm>
          <a:prstGeom prst="roundRect">
            <a:avLst>
              <a:gd name="adj" fmla="val 8000"/>
            </a:avLst>
          </a:prstGeom>
          <a:solidFill>
            <a:srgbClr val="4F80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61848" y="3198845"/>
            <a:ext cx="676198" cy="676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256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33510" y="3198845"/>
            <a:ext cx="676198" cy="676198"/>
          </a:xfrm>
          <a:prstGeom prst="roundRect">
            <a:avLst>
              <a:gd name="adj" fmla="val 8000"/>
            </a:avLst>
          </a:prstGeom>
          <a:solidFill>
            <a:srgbClr val="2A4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33510" y="3198845"/>
            <a:ext cx="676198" cy="676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18524" y="3970507"/>
            <a:ext cx="676198" cy="676198"/>
          </a:xfrm>
          <a:prstGeom prst="roundRect">
            <a:avLst>
              <a:gd name="adj" fmla="val 8000"/>
            </a:avLst>
          </a:prstGeom>
          <a:solidFill>
            <a:srgbClr val="4A78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8524" y="3970507"/>
            <a:ext cx="676198" cy="676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90186" y="3970507"/>
            <a:ext cx="676198" cy="676198"/>
          </a:xfrm>
          <a:prstGeom prst="roundRect">
            <a:avLst>
              <a:gd name="adj" fmla="val 8000"/>
            </a:avLst>
          </a:prstGeom>
          <a:solidFill>
            <a:srgbClr val="3A6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90186" y="3970507"/>
            <a:ext cx="676198" cy="676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61848" y="3970507"/>
            <a:ext cx="676198" cy="676198"/>
          </a:xfrm>
          <a:prstGeom prst="roundRect">
            <a:avLst>
              <a:gd name="adj" fmla="val 8000"/>
            </a:avLst>
          </a:prstGeom>
          <a:solidFill>
            <a:srgbClr val="3459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61848" y="3970507"/>
            <a:ext cx="676198" cy="676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33510" y="3970507"/>
            <a:ext cx="676198" cy="676198"/>
          </a:xfrm>
          <a:prstGeom prst="roundRect">
            <a:avLst>
              <a:gd name="adj" fmla="val 8000"/>
            </a:avLst>
          </a:prstGeom>
          <a:solidFill>
            <a:srgbClr val="24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33510" y="3970507"/>
            <a:ext cx="676198" cy="676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18524" y="4742169"/>
            <a:ext cx="676198" cy="676198"/>
          </a:xfrm>
          <a:prstGeom prst="roundRect">
            <a:avLst>
              <a:gd name="adj" fmla="val 8000"/>
            </a:avLst>
          </a:prstGeom>
          <a:solidFill>
            <a:srgbClr val="24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18524" y="4742169"/>
            <a:ext cx="676198" cy="676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890186" y="4742169"/>
            <a:ext cx="676198" cy="676198"/>
          </a:xfrm>
          <a:prstGeom prst="roundRect">
            <a:avLst>
              <a:gd name="adj" fmla="val 8000"/>
            </a:avLst>
          </a:prstGeom>
          <a:solidFill>
            <a:srgbClr val="2A41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90186" y="4742169"/>
            <a:ext cx="676198" cy="676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661848" y="4742169"/>
            <a:ext cx="676198" cy="676198"/>
          </a:xfrm>
          <a:prstGeom prst="roundRect">
            <a:avLst>
              <a:gd name="adj" fmla="val 8000"/>
            </a:avLst>
          </a:prstGeom>
          <a:solidFill>
            <a:srgbClr val="2F4E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61848" y="4742169"/>
            <a:ext cx="676198" cy="676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433510" y="4742169"/>
            <a:ext cx="676198" cy="676198"/>
          </a:xfrm>
          <a:prstGeom prst="roundRect">
            <a:avLst>
              <a:gd name="adj" fmla="val 8000"/>
            </a:avLst>
          </a:prstGeom>
          <a:solidFill>
            <a:srgbClr val="1E2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33510" y="4742169"/>
            <a:ext cx="676198" cy="67619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650992"/>
            <a:ext cx="385663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3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seed 3 终局 · 290724 分</a:t>
            </a:r>
          </a:p>
        </p:txBody>
      </p:sp>
      <p:sp>
        <p:nvSpPr>
          <p:cNvPr id="49" name="Oval 48"/>
          <p:cNvSpPr/>
          <p:nvPr/>
        </p:nvSpPr>
        <p:spPr>
          <a:xfrm>
            <a:off x="5012740" y="2441956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41340" y="2331720"/>
            <a:ext cx="6152083" cy="4907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模块化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board（纯逻辑）· ai · ui · main 用 import 组织，另有 62 项断言的单元测试</a:t>
            </a:r>
          </a:p>
        </p:txBody>
      </p:sp>
      <p:sp>
        <p:nvSpPr>
          <p:cNvPr id="51" name="Oval 50"/>
          <p:cNvSpPr/>
          <p:nvPr/>
        </p:nvSpPr>
        <p:spPr>
          <a:xfrm>
            <a:off x="5012740" y="3042919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41340" y="2932683"/>
            <a:ext cx="6152083" cy="4907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交互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wasd / 方向词 / 中文“上下左右”，多步撤销、重来、ANSI 256 色</a:t>
            </a:r>
          </a:p>
        </p:txBody>
      </p:sp>
      <p:sp>
        <p:nvSpPr>
          <p:cNvPr id="53" name="Oval 52"/>
          <p:cNvSpPr/>
          <p:nvPr/>
        </p:nvSpPr>
        <p:spPr>
          <a:xfrm>
            <a:off x="5012740" y="3643882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241340" y="3533646"/>
            <a:ext cx="6152083" cy="2453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Expectimax + 线评估缓存 + 置换表，每步 1.3s → 0.13s</a:t>
            </a:r>
          </a:p>
        </p:txBody>
      </p:sp>
      <p:sp>
        <p:nvSpPr>
          <p:cNvPr id="55" name="Oval 54"/>
          <p:cNvSpPr/>
          <p:nvPr/>
        </p:nvSpPr>
        <p:spPr>
          <a:xfrm>
            <a:off x="5012740" y="3999481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241340" y="3889245"/>
            <a:ext cx="6152083" cy="2453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可复现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--seed 固定随机数，moves.txt 重放两次输出逐字节相同</a:t>
            </a:r>
          </a:p>
        </p:txBody>
      </p:sp>
      <p:sp>
        <p:nvSpPr>
          <p:cNvPr id="57" name="Oval 56"/>
          <p:cNvSpPr/>
          <p:nvPr/>
        </p:nvSpPr>
        <p:spPr>
          <a:xfrm>
            <a:off x="5012740" y="4355080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41340" y="4244844"/>
            <a:ext cx="6152083" cy="2453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开发记录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报错仅 2 次（语法 1、逻辑 1），另发现 1 个解释器 bug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012740" y="5436108"/>
            <a:ext cx="1606296" cy="365760"/>
          </a:xfrm>
          <a:prstGeom prst="roundRect">
            <a:avLst>
              <a:gd name="adj" fmla="val 50000"/>
            </a:avLst>
          </a:prstGeom>
          <a:solidFill>
            <a:srgbClr val="5B95F7">
              <a:alpha val="16000"/>
            </a:srgbClr>
          </a:solidFill>
          <a:ln w="9525">
            <a:solidFill>
              <a:srgbClr val="A9CB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12740" y="5436108"/>
            <a:ext cx="16062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seed 42 · 4096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747052" y="5436108"/>
            <a:ext cx="1520952" cy="365760"/>
          </a:xfrm>
          <a:prstGeom prst="roundRect">
            <a:avLst>
              <a:gd name="adj" fmla="val 50000"/>
            </a:avLst>
          </a:prstGeom>
          <a:solidFill>
            <a:srgbClr val="5B95F7">
              <a:alpha val="16000"/>
            </a:srgbClr>
          </a:solidFill>
          <a:ln w="9525">
            <a:solidFill>
              <a:srgbClr val="A9CB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47052" y="5436108"/>
            <a:ext cx="15209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seed 1 · 8192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96020" y="5436108"/>
            <a:ext cx="1520952" cy="365760"/>
          </a:xfrm>
          <a:prstGeom prst="roundRect">
            <a:avLst>
              <a:gd name="adj" fmla="val 50000"/>
            </a:avLst>
          </a:prstGeom>
          <a:solidFill>
            <a:srgbClr val="5B95F7">
              <a:alpha val="16000"/>
            </a:srgbClr>
          </a:solidFill>
          <a:ln w="9525">
            <a:solidFill>
              <a:srgbClr val="A9CB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396020" y="5436108"/>
            <a:ext cx="15209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seed 2 · 8192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12740" y="5911596"/>
            <a:ext cx="1606296" cy="365760"/>
          </a:xfrm>
          <a:prstGeom prst="roundRect">
            <a:avLst>
              <a:gd name="adj" fmla="val 50000"/>
            </a:avLst>
          </a:prstGeom>
          <a:solidFill>
            <a:srgbClr val="5B95F7">
              <a:alpha val="16000"/>
            </a:srgbClr>
          </a:solidFill>
          <a:ln w="9525">
            <a:solidFill>
              <a:srgbClr val="A9CB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012740" y="5911596"/>
            <a:ext cx="160629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seed 3 · 16384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747052" y="5911596"/>
            <a:ext cx="1520952" cy="365760"/>
          </a:xfrm>
          <a:prstGeom prst="roundRect">
            <a:avLst>
              <a:gd name="adj" fmla="val 50000"/>
            </a:avLst>
          </a:prstGeom>
          <a:solidFill>
            <a:srgbClr val="5B95F7">
              <a:alpha val="16000"/>
            </a:srgbClr>
          </a:solidFill>
          <a:ln w="9525">
            <a:solidFill>
              <a:srgbClr val="A9CB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47052" y="5911596"/>
            <a:ext cx="15209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seed 4 · 4096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396020" y="5911596"/>
            <a:ext cx="1520952" cy="365760"/>
          </a:xfrm>
          <a:prstGeom prst="roundRect">
            <a:avLst>
              <a:gd name="adj" fmla="val 50000"/>
            </a:avLst>
          </a:prstGeom>
          <a:solidFill>
            <a:srgbClr val="5B95F7">
              <a:alpha val="16000"/>
            </a:srgbClr>
          </a:solidFill>
          <a:ln w="9525">
            <a:solidFill>
              <a:srgbClr val="A9CBFF">
                <a:alpha val="4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96020" y="5911596"/>
            <a:ext cx="15209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seed 5 · 4096</a:t>
            </a:r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"/>
                            </p:stCondLst>
                            <p:childTnLst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4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40"/>
                            </p:stCondLst>
                            <p:childTnLst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40"/>
                            </p:stCondLst>
                            <p:childTnLst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40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40"/>
                            </p:stCondLst>
                            <p:childTnLst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40"/>
                            </p:stCondLst>
                            <p:childTnLst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40"/>
                            </p:stCondLst>
                            <p:childTnLst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40"/>
                            </p:stCondLst>
                            <p:childTnLst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10"/>
                            </p:stCondLst>
                            <p:childTnLst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10"/>
                            </p:stCondLst>
                            <p:childTnLst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10"/>
                            </p:stCondLst>
                            <p:childTnLst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10"/>
                            </p:stCondLst>
                            <p:childTnLst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10"/>
                            </p:stCondLst>
                            <p:childTnLst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10"/>
                            </p:stCondLst>
                            <p:childTnLst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10"/>
                            </p:stCondLst>
                            <p:childTnLst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10"/>
                            </p:stCondLst>
                            <p:childTnLst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680"/>
                            </p:stCondLst>
                            <p:childTnLst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680"/>
                            </p:stCondLst>
                            <p:childTnLst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80"/>
                            </p:stCondLst>
                            <p:childTnLst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680"/>
                            </p:stCondLst>
                            <p:childTnLst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680"/>
                            </p:stCondLst>
                            <p:childTnLst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680"/>
                            </p:stCondLst>
                            <p:childTnLst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680"/>
                            </p:stCondLst>
                            <p:childTnLst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680"/>
                            </p:stCondLst>
                            <p:childTnLst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850"/>
                            </p:stCondLst>
                            <p:childTnLst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850"/>
                            </p:stCondLst>
                            <p:childTnLst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850"/>
                            </p:stCondLst>
                            <p:childTnLst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850"/>
                            </p:stCondLst>
                            <p:childTnLst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850"/>
                            </p:stCondLst>
                            <p:childTnLst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850"/>
                            </p:stCondLst>
                            <p:childTnLst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8" dur="6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850"/>
                            </p:stCondLst>
                            <p:childTnLst>
                              <p:par>
                                <p:cTn id="1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6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850"/>
                            </p:stCondLst>
                            <p:childTnLst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6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6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020"/>
                            </p:stCondLst>
                            <p:childTnLst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6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6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190"/>
                            </p:stCondLst>
                            <p:childTnLst>
                              <p:par>
                                <p:cTn id="1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6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1190"/>
                            </p:stCondLst>
                            <p:childTnLst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6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3" dur="6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190"/>
                            </p:stCondLst>
                            <p:childTnLst>
                              <p:par>
                                <p:cTn id="2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6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8" dur="6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1190"/>
                            </p:stCondLst>
                            <p:childTnLst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6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6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1360"/>
                            </p:stCondLst>
                            <p:childTnLst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6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8" dur="6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1360"/>
                            </p:stCondLst>
                            <p:childTnLst>
                              <p:par>
                                <p:cTn id="2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6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6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1360"/>
                            </p:stCondLst>
                            <p:childTnLst>
                              <p:par>
                                <p:cTn id="2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6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8" dur="6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4" fill="hold">
                            <p:stCondLst>
                              <p:cond delay="1360"/>
                            </p:stCondLst>
                            <p:childTnLst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6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3" dur="6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1530"/>
                            </p:stCondLst>
                            <p:childTnLst>
                              <p:par>
                                <p:cTn id="2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6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8" dur="6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1530"/>
                            </p:stCondLst>
                            <p:childTnLst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6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3" dur="6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1700"/>
                            </p:stCondLst>
                            <p:childTnLst>
                              <p:par>
                                <p:cTn id="2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2" dur="6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6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4" fill="hold">
                            <p:stCondLst>
                              <p:cond delay="1700"/>
                            </p:stCondLst>
                            <p:childTnLst>
                              <p:par>
                                <p:cTn id="2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3" dur="6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9" fill="hold">
                            <p:stCondLst>
                              <p:cond delay="1700"/>
                            </p:stCondLst>
                            <p:childTnLst>
                              <p:par>
                                <p:cTn id="2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6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1700"/>
                            </p:stCondLst>
                            <p:childTnLst>
                              <p:par>
                                <p:cTn id="2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6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6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9" fill="hold">
                            <p:stCondLst>
                              <p:cond delay="1700"/>
                            </p:stCondLst>
                            <p:childTnLst>
                              <p:par>
                                <p:cTn id="2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8" dur="6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1700"/>
                            </p:stCondLst>
                            <p:childTnLst>
                              <p:par>
                                <p:cTn id="2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7" dur="6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3" dur="6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1700"/>
                            </p:stCondLst>
                            <p:childTnLst>
                              <p:par>
                                <p:cTn id="2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6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6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4" fill="hold">
                            <p:stCondLst>
                              <p:cond delay="1700"/>
                            </p:stCondLst>
                            <p:childTnLst>
                              <p:par>
                                <p:cTn id="2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6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3" dur="6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9" fill="hold">
                            <p:stCondLst>
                              <p:cond delay="1700"/>
                            </p:stCondLst>
                            <p:childTnLst>
                              <p:par>
                                <p:cTn id="2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6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8" dur="6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4" fill="hold">
                            <p:stCondLst>
                              <p:cond delay="1700"/>
                            </p:stCondLst>
                            <p:childTnLst>
                              <p:par>
                                <p:cTn id="2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6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3" dur="6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9" fill="hold">
                            <p:stCondLst>
                              <p:cond delay="1700"/>
                            </p:stCondLst>
                            <p:childTnLst>
                              <p:par>
                                <p:cTn id="2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6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8" dur="6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1700"/>
                            </p:stCondLst>
                            <p:childTnLst>
                              <p:par>
                                <p:cTn id="2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6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6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4088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9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GZG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Build a language,</a:t>
            </a:r>
          </a:p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prove it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820095" cy="6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Microsoft YaHei"/>
                <a:ea typeface="Microsoft YaHei"/>
                <a:cs typeface="Microsoft YaHei"/>
              </a:rPr>
              <a:t>GZG · 郭志罡 · 程序设计实践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70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16 /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961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 spc="300">
                <a:solidFill>
                  <a:srgbClr val="E2554F"/>
                </a:solidFill>
                <a:latin typeface="Segoe UI"/>
                <a:ea typeface="Segoe UI"/>
                <a:cs typeface="Segoe UI"/>
              </a:rPr>
              <a:t>14 · DEV 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1430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 spc="20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Agent 踩了哪些坑，文档因此改了什么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1938528"/>
            <a:ext cx="10707624" cy="413189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1938528"/>
            <a:ext cx="3617442" cy="4131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Agent 遇到的问题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426" y="1938528"/>
            <a:ext cx="2992831" cy="4131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原因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4713" y="1938528"/>
            <a:ext cx="3438982" cy="4131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改进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345717"/>
            <a:ext cx="10707624" cy="9000"/>
          </a:xfrm>
          <a:prstGeom prst="rect">
            <a:avLst/>
          </a:prstGeom>
          <a:solidFill>
            <a:srgbClr val="E2554F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2351717"/>
            <a:ext cx="3617442" cy="618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按 Python 习惯写了 a if c else b，报“实参列表缺少 ')'”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2426" y="2351717"/>
            <a:ext cx="2992831" cy="618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文档没写“没有这种写法”；报错没给出改法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44713" y="2351717"/>
            <a:ext cx="3438982" cy="618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规则 4 写明只有 c ? a : b；编译器直接提示改写并抑制连带错误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2964646"/>
            <a:ext cx="10707624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2970646"/>
            <a:ext cx="3617442" cy="618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文档没提 import，只能靠试验摸清语法与路径规则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2426" y="2970646"/>
            <a:ext cx="2992831" cy="618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Skill 文档遗漏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4713" y="2970646"/>
            <a:ext cx="3438982" cy="61892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新增规则 16：路径相对于写 import 的文件、无 as、只执行一次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3583575"/>
            <a:ext cx="10707624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3589575"/>
            <a:ext cx="3617442" cy="4131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文件读写路径相对工作目录，与 import 不一致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2426" y="3589575"/>
            <a:ext cx="2992831" cy="4131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两种路径基准未说明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4713" y="3589575"/>
            <a:ext cx="3438982" cy="4131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新增规则 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5800" y="3996764"/>
            <a:ext cx="10707624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4002764"/>
            <a:ext cx="3617442" cy="4131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不确定函数里给顶层变量赋值是否是改全局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32426" y="4002764"/>
            <a:ext cx="2992831" cy="4131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规则 3 只说了 let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4713" y="4002764"/>
            <a:ext cx="3438982" cy="4131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规则 3 补充：直接赋值即修改全局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5800" y="4409953"/>
            <a:ext cx="10707624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" y="4415953"/>
            <a:ext cx="3617442" cy="4131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第一版 AI 每步 1.3 秒，靠自测微基准定位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32426" y="4415953"/>
            <a:ext cx="2992831" cy="4131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缺少“哪些操作贵”的指引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4713" y="4415953"/>
            <a:ext cx="3438982" cy="4131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新增“性能提示”一节（整数键、copy、join）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" y="4823142"/>
            <a:ext cx="10707624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5528" y="4829142"/>
            <a:ext cx="3617442" cy="4131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结构体内语法错误后进程卡死不退出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32426" y="4829142"/>
            <a:ext cx="2992831" cy="4131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解释器 bug（测试 Agent 也独立发现）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4713" y="4829142"/>
            <a:ext cx="3438982" cy="4131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编译器出错后跳到下一个成员，已加回归测试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" y="5236331"/>
            <a:ext cx="10707624" cy="9000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" y="5610301"/>
            <a:ext cx="38000" cy="379018"/>
          </a:xfrm>
          <a:prstGeom prst="rect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0120" y="5537149"/>
            <a:ext cx="10433304" cy="52532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i="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全程使用修订前的文档，报错仅 2 次；Agent 指出的 4 处文档缺失已全部补进 SKILL.md（15 条 → 18 条规则 + 性能提示）</a:t>
            </a:r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0"/>
                            </p:stCondLst>
                            <p:childTnLst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"/>
                            </p:stCondLst>
                            <p:childTnLst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70"/>
                            </p:stCondLst>
                            <p:childTnLst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0"/>
                            </p:stCondLst>
                            <p:childTnLst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40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40"/>
                            </p:stCondLst>
                            <p:childTnLst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40"/>
                            </p:stCondLst>
                            <p:childTnLst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40"/>
                            </p:stCondLst>
                            <p:childTnLst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10"/>
                            </p:stCondLst>
                            <p:childTnLst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10"/>
                            </p:stCondLst>
                            <p:childTnLst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10"/>
                            </p:stCondLst>
                            <p:childTnLst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10"/>
                            </p:stCondLst>
                            <p:childTnLst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80"/>
                            </p:stCondLst>
                            <p:childTnLst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680"/>
                            </p:stCondLst>
                            <p:childTnLst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80"/>
                            </p:stCondLst>
                            <p:childTnLst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80"/>
                            </p:stCondLst>
                            <p:childTnLst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"/>
                            </p:stCondLst>
                            <p:childTnLst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850"/>
                            </p:stCondLst>
                            <p:childTnLst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850"/>
                            </p:stCondLst>
                            <p:childTnLst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6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850"/>
                            </p:stCondLst>
                            <p:childTnLst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1020"/>
                            </p:stCondLst>
                            <p:childTnLst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6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6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020"/>
                            </p:stCondLst>
                            <p:childTnLst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6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6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20"/>
                            </p:stCondLst>
                            <p:childTnLst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6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6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020"/>
                            </p:stCondLst>
                            <p:childTnLst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6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190"/>
                            </p:stCondLst>
                            <p:childTnLst>
                              <p:par>
                                <p:cTn id="1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6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190"/>
                            </p:stCondLst>
                            <p:childTnLst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6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190"/>
                            </p:stCondLst>
                            <p:childTnLst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6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190"/>
                            </p:stCondLst>
                            <p:childTnLst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6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6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1360"/>
                            </p:stCondLst>
                            <p:childTnLst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6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360"/>
                            </p:stCondLst>
                            <p:childTnLst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3" dur="6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4088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9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GZG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Build a language,</a:t>
            </a:r>
          </a:p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prove it works.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6355080"/>
            <a:ext cx="10820095" cy="600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Microsoft YaHei"/>
                <a:ea typeface="Microsoft YaHei"/>
                <a:cs typeface="Microsoft YaHei"/>
              </a:rPr>
              <a:t>GZG · 郭志罡 · 程序设计实践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77095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17 / 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89611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 i="0" spc="300">
                <a:solidFill>
                  <a:srgbClr val="E2554F"/>
                </a:solidFill>
                <a:latin typeface="Segoe UI"/>
                <a:ea typeface="Segoe UI"/>
                <a:cs typeface="Segoe UI"/>
              </a:rPr>
              <a:t>15 · 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143000"/>
            <a:ext cx="107899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b="0" i="0" spc="20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工程过程：分工与 Git 历史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4708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20 次提交，包含 2048 Agent 的分阶段提交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331720"/>
            <a:ext cx="6380683" cy="3730752"/>
          </a:xfrm>
          <a:prstGeom prst="roundRect">
            <a:avLst>
              <a:gd name="adj" fmla="val 3500"/>
            </a:avLst>
          </a:prstGeom>
          <a:solidFill>
            <a:srgbClr val="050A1E">
              <a:alpha val="78000"/>
            </a:srgbClr>
          </a:solidFill>
          <a:ln w="9525">
            <a:solidFill>
              <a:srgbClr val="FFFFFF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68680" y="2487168"/>
            <a:ext cx="100584" cy="100584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51560" y="2487168"/>
            <a:ext cx="100584" cy="100584"/>
          </a:xfrm>
          <a:prstGeom prst="ellipse">
            <a:avLst/>
          </a:prstGeom>
          <a:solidFill>
            <a:srgbClr val="F2A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34440" y="2487168"/>
            <a:ext cx="100584" cy="100584"/>
          </a:xfrm>
          <a:prstGeom prst="ellipse">
            <a:avLst/>
          </a:prstGeom>
          <a:solidFill>
            <a:srgbClr val="5DB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414016"/>
            <a:ext cx="52834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5E6F96"/>
                </a:solidFill>
                <a:latin typeface="Consolas"/>
                <a:ea typeface="Microsoft YaHei"/>
                <a:cs typeface="Consolas"/>
              </a:rPr>
              <a:t>git log --oneline --reverse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2788920"/>
            <a:ext cx="5969203" cy="3182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39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dc49d3d </a:t>
            </a:r>
            <a:r>
              <a:rPr sz="839" b="0" i="0">
                <a:solidFill>
                  <a:srgbClr val="5B95F7"/>
                </a:solidFill>
                <a:latin typeface="Consolas"/>
                <a:ea typeface="Microsoft YaHei"/>
                <a:cs typeface="Consolas"/>
              </a:rPr>
              <a:t>feat</a:t>
            </a:r>
            <a:r>
              <a:rPr sz="839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: GZG 解释器核心——词法分析、单遍编译器、字节码虚拟机、标记清除 GC</a:t>
            </a:r>
          </a:p>
          <a:p>
            <a:pPr algn="l">
              <a:lnSpc>
                <a:spcPct val="112000"/>
              </a:lnSpc>
            </a:pPr>
            <a:r>
              <a:rPr sz="839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762b882 </a:t>
            </a:r>
            <a:r>
              <a:rPr sz="839" b="0" i="0">
                <a:solidFill>
                  <a:srgbClr val="5B95F7"/>
                </a:solidFill>
                <a:latin typeface="Consolas"/>
                <a:ea typeface="Microsoft YaHei"/>
                <a:cs typeface="Consolas"/>
              </a:rPr>
              <a:t>docs</a:t>
            </a:r>
            <a:r>
              <a:rPr sz="839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: 语法规则文档；bench: 9 组 GZG/Python 对照性能用例；perf: 字符串拼接只拷贝一次、按…</a:t>
            </a:r>
          </a:p>
          <a:p>
            <a:pPr algn="l">
              <a:lnSpc>
                <a:spcPct val="112000"/>
              </a:lnSpc>
            </a:pPr>
            <a:r>
              <a:rPr sz="839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685ad41 </a:t>
            </a:r>
            <a:r>
              <a:rPr sz="839" b="0" i="0">
                <a:solidFill>
                  <a:srgbClr val="5B95F7"/>
                </a:solidFill>
                <a:latin typeface="Consolas"/>
                <a:ea typeface="Microsoft YaHei"/>
                <a:cs typeface="Consolas"/>
              </a:rPr>
              <a:t>feat</a:t>
            </a:r>
            <a:r>
              <a:rPr sz="839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: 内建函数库与平台层；tests: GZG 编写的测试运行器；docs: 开发指南与 Agent 技能文档</a:t>
            </a:r>
          </a:p>
          <a:p>
            <a:pPr algn="l">
              <a:lnSpc>
                <a:spcPct val="112000"/>
              </a:lnSpc>
            </a:pPr>
            <a:r>
              <a:rPr sz="839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27cbc17 </a:t>
            </a:r>
            <a:r>
              <a:rPr sz="839" b="0" i="0">
                <a:solidFill>
                  <a:srgbClr val="5B95F7"/>
                </a:solidFill>
                <a:latin typeface="Consolas"/>
                <a:ea typeface="Microsoft YaHei"/>
                <a:cs typeface="Consolas"/>
              </a:rPr>
              <a:t>2048</a:t>
            </a:r>
            <a:r>
              <a:rPr sz="839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：棋盘纯逻辑（移动合并、生成新块、胜负判断、撤销历史）</a:t>
            </a:r>
          </a:p>
          <a:p>
            <a:pPr algn="l">
              <a:lnSpc>
                <a:spcPct val="112000"/>
              </a:lnSpc>
            </a:pPr>
            <a:r>
              <a:rPr sz="839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cb72b3b </a:t>
            </a:r>
            <a:r>
              <a:rPr sz="839" b="0" i="0">
                <a:solidFill>
                  <a:srgbClr val="5B95F7"/>
                </a:solidFill>
                <a:latin typeface="Consolas"/>
                <a:ea typeface="Microsoft YaHei"/>
                <a:cs typeface="Consolas"/>
              </a:rPr>
              <a:t>2048</a:t>
            </a:r>
            <a:r>
              <a:rPr sz="839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：棋盘单元测试（合并规则、四方向、无效移动、判负判胜、撤销）</a:t>
            </a:r>
          </a:p>
          <a:p>
            <a:pPr algn="l">
              <a:lnSpc>
                <a:spcPct val="112000"/>
              </a:lnSpc>
            </a:pPr>
            <a:r>
              <a:rPr sz="839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0e83662 </a:t>
            </a:r>
            <a:r>
              <a:rPr sz="839" b="0" i="0">
                <a:solidFill>
                  <a:srgbClr val="5B95F7"/>
                </a:solidFill>
                <a:latin typeface="Consolas"/>
                <a:ea typeface="Microsoft YaHei"/>
                <a:cs typeface="Consolas"/>
              </a:rPr>
              <a:t>feat</a:t>
            </a:r>
            <a:r>
              <a:rPr sz="839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: --stats 显示 GC 统计；perf: 叶子对象不入灰栈、最小 GC 阈值 8MB；docs: REA…</a:t>
            </a:r>
          </a:p>
          <a:p>
            <a:pPr algn="l">
              <a:lnSpc>
                <a:spcPct val="112000"/>
              </a:lnSpc>
            </a:pPr>
            <a:r>
              <a:rPr sz="839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ff5383b </a:t>
            </a:r>
            <a:r>
              <a:rPr sz="839" b="0" i="0">
                <a:solidFill>
                  <a:srgbClr val="5B95F7"/>
                </a:solidFill>
                <a:latin typeface="Consolas"/>
                <a:ea typeface="Microsoft YaHei"/>
                <a:cs typeface="Consolas"/>
              </a:rPr>
              <a:t>docs</a:t>
            </a:r>
            <a:r>
              <a:rPr sz="839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: PPT 生成脚本（python-pptx，数据取自测试与性能结果）；示例对齐修正</a:t>
            </a:r>
          </a:p>
          <a:p>
            <a:pPr algn="l">
              <a:lnSpc>
                <a:spcPct val="112000"/>
              </a:lnSpc>
            </a:pPr>
            <a:r>
              <a:rPr sz="839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e38dd04 </a:t>
            </a:r>
            <a:r>
              <a:rPr sz="839" b="0" i="0">
                <a:solidFill>
                  <a:srgbClr val="5B95F7"/>
                </a:solidFill>
                <a:latin typeface="Consolas"/>
                <a:ea typeface="Microsoft YaHei"/>
                <a:cs typeface="Consolas"/>
              </a:rPr>
              <a:t>fix</a:t>
            </a:r>
            <a:r>
              <a:rPr sz="839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: 黑盒测试发现的 6 个问题</a:t>
            </a:r>
          </a:p>
          <a:p>
            <a:pPr algn="l">
              <a:lnSpc>
                <a:spcPct val="112000"/>
              </a:lnSpc>
            </a:pPr>
            <a:r>
              <a:rPr sz="839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c403dfc </a:t>
            </a:r>
            <a:r>
              <a:rPr sz="839" b="0" i="0">
                <a:solidFill>
                  <a:srgbClr val="5B95F7"/>
                </a:solidFill>
                <a:latin typeface="Consolas"/>
                <a:ea typeface="Microsoft YaHei"/>
                <a:cs typeface="Consolas"/>
              </a:rPr>
              <a:t>tests</a:t>
            </a:r>
            <a:r>
              <a:rPr sz="839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: 321 个黑盒测试（18 个分类）；fix: 深层回调与 to_str 递归的 C 栈溢出、深比较与打印的…</a:t>
            </a:r>
          </a:p>
          <a:p>
            <a:pPr algn="l">
              <a:lnSpc>
                <a:spcPct val="112000"/>
              </a:lnSpc>
            </a:pPr>
            <a:r>
              <a:rPr sz="839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805fbd7 </a:t>
            </a:r>
            <a:r>
              <a:rPr sz="839" b="0" i="0">
                <a:solidFill>
                  <a:srgbClr val="5B95F7"/>
                </a:solidFill>
                <a:latin typeface="Consolas"/>
                <a:ea typeface="Microsoft YaHei"/>
                <a:cs typeface="Consolas"/>
              </a:rPr>
              <a:t>tests</a:t>
            </a:r>
            <a:r>
              <a:rPr sz="839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: .in 输入文件不做换行符转换（保留 CRLF 用例）</a:t>
            </a:r>
          </a:p>
          <a:p>
            <a:pPr algn="l">
              <a:lnSpc>
                <a:spcPct val="112000"/>
              </a:lnSpc>
            </a:pPr>
            <a:r>
              <a:rPr sz="839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30d067f </a:t>
            </a:r>
            <a:r>
              <a:rPr sz="839" b="0" i="0">
                <a:solidFill>
                  <a:srgbClr val="5B95F7"/>
                </a:solidFill>
                <a:latin typeface="Consolas"/>
                <a:ea typeface="Microsoft YaHei"/>
                <a:cs typeface="Consolas"/>
              </a:rPr>
              <a:t>tests</a:t>
            </a:r>
            <a:r>
              <a:rPr sz="839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: 新增 cli 分类（--version/--help/-e/--dis/--tokens/--stats/…</a:t>
            </a:r>
          </a:p>
          <a:p>
            <a:pPr algn="l">
              <a:lnSpc>
                <a:spcPct val="112000"/>
              </a:lnSpc>
            </a:pPr>
            <a:r>
              <a:rPr sz="839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a679ed3 </a:t>
            </a:r>
            <a:r>
              <a:rPr sz="839" b="0" i="0">
                <a:solidFill>
                  <a:srgbClr val="5B95F7"/>
                </a:solidFill>
                <a:latin typeface="Consolas"/>
                <a:ea typeface="Microsoft YaHei"/>
                <a:cs typeface="Consolas"/>
              </a:rPr>
              <a:t>docs</a:t>
            </a:r>
            <a:r>
              <a:rPr sz="839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: 补充测试中发现的模糊语义（fmt 舍入、区间显示与 in、移位位数、插值中的花括号、遮蔽规则等）</a:t>
            </a:r>
          </a:p>
          <a:p>
            <a:pPr algn="l">
              <a:lnSpc>
                <a:spcPct val="112000"/>
              </a:lnSpc>
            </a:pPr>
            <a:r>
              <a:rPr sz="839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2bf9c7c </a:t>
            </a:r>
            <a:r>
              <a:rPr sz="839" b="0" i="0">
                <a:solidFill>
                  <a:srgbClr val="5B95F7"/>
                </a:solidFill>
                <a:latin typeface="Consolas"/>
                <a:ea typeface="Microsoft YaHei"/>
                <a:cs typeface="Consolas"/>
              </a:rPr>
              <a:t>2048</a:t>
            </a:r>
            <a:r>
              <a:rPr sz="839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：交互界面（ANSI 上色、命令解析、撤销/重来/帮助、最高分文件、moves.txt 重放）</a:t>
            </a:r>
          </a:p>
          <a:p>
            <a:pPr algn="l">
              <a:lnSpc>
                <a:spcPct val="112000"/>
              </a:lnSpc>
            </a:pPr>
            <a:r>
              <a:rPr sz="839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1dca9e8 </a:t>
            </a:r>
            <a:r>
              <a:rPr sz="839" b="0" i="0">
                <a:solidFill>
                  <a:srgbClr val="5B95F7"/>
                </a:solidFill>
                <a:latin typeface="Consolas"/>
                <a:ea typeface="Microsoft YaHei"/>
                <a:cs typeface="Consolas"/>
              </a:rPr>
              <a:t>tests</a:t>
            </a:r>
            <a:r>
              <a:rPr sz="839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: 运行器跳过 _ 开头的目录</a:t>
            </a:r>
          </a:p>
          <a:p>
            <a:pPr algn="l">
              <a:lnSpc>
                <a:spcPct val="112000"/>
              </a:lnSpc>
            </a:pPr>
            <a:r>
              <a:rPr sz="839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9421e18 </a:t>
            </a:r>
            <a:r>
              <a:rPr sz="839" b="0" i="0">
                <a:solidFill>
                  <a:srgbClr val="5B95F7"/>
                </a:solidFill>
                <a:latin typeface="Consolas"/>
                <a:ea typeface="Microsoft YaHei"/>
                <a:cs typeface="Consolas"/>
              </a:rPr>
              <a:t>2048</a:t>
            </a:r>
            <a:r>
              <a:rPr sz="839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：expectimax AI（线评估缓存、置换表、按空格数调整深度）</a:t>
            </a:r>
          </a:p>
          <a:p>
            <a:pPr algn="l">
              <a:lnSpc>
                <a:spcPct val="112000"/>
              </a:lnSpc>
            </a:pPr>
            <a:r>
              <a:rPr sz="839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0042b1c </a:t>
            </a:r>
            <a:r>
              <a:rPr sz="839" b="0" i="0">
                <a:solidFill>
                  <a:srgbClr val="5B95F7"/>
                </a:solidFill>
                <a:latin typeface="Consolas"/>
                <a:ea typeface="Microsoft YaHei"/>
                <a:cs typeface="Consolas"/>
              </a:rPr>
              <a:t>docs</a:t>
            </a:r>
            <a:r>
              <a:rPr sz="839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+fix: 根据 2048 Agent 的开发记录改进文档与报错</a:t>
            </a:r>
          </a:p>
          <a:p>
            <a:pPr algn="l">
              <a:lnSpc>
                <a:spcPct val="112000"/>
              </a:lnSpc>
            </a:pPr>
            <a:r>
              <a:rPr sz="839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e7c7227 </a:t>
            </a:r>
            <a:r>
              <a:rPr sz="839" b="0" i="0">
                <a:solidFill>
                  <a:srgbClr val="5B95F7"/>
                </a:solidFill>
                <a:latin typeface="Consolas"/>
                <a:ea typeface="Microsoft YaHei"/>
                <a:cs typeface="Consolas"/>
              </a:rPr>
              <a:t>2048</a:t>
            </a:r>
            <a:r>
              <a:rPr sz="839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：README、AI 跑分脚本、开发记录（6 局跑分、评估与报错统计）</a:t>
            </a:r>
          </a:p>
          <a:p>
            <a:pPr algn="l">
              <a:lnSpc>
                <a:spcPct val="112000"/>
              </a:lnSpc>
            </a:pPr>
            <a:r>
              <a:rPr sz="839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19b9bb5 </a:t>
            </a:r>
            <a:r>
              <a:rPr sz="839" b="0" i="0">
                <a:solidFill>
                  <a:srgbClr val="5B95F7"/>
                </a:solidFill>
                <a:latin typeface="Consolas"/>
                <a:ea typeface="Microsoft YaHei"/>
                <a:cs typeface="Consolas"/>
              </a:rPr>
              <a:t>bench</a:t>
            </a:r>
            <a:r>
              <a:rPr sz="839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: 最终性能测试结果（几何平均快 1.44 倍）与报告</a:t>
            </a:r>
          </a:p>
          <a:p>
            <a:pPr algn="l">
              <a:lnSpc>
                <a:spcPct val="112000"/>
              </a:lnSpc>
            </a:pPr>
            <a:r>
              <a:rPr sz="839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e34ec0c </a:t>
            </a:r>
            <a:r>
              <a:rPr sz="839" b="0" i="0">
                <a:solidFill>
                  <a:srgbClr val="5B95F7"/>
                </a:solidFill>
                <a:latin typeface="Consolas"/>
                <a:ea typeface="Microsoft YaHei"/>
                <a:cs typeface="Consolas"/>
              </a:rPr>
              <a:t>docs</a:t>
            </a:r>
            <a:r>
              <a:rPr sz="839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: 生成最终 PPT（18 页）；README 更新最终数字</a:t>
            </a:r>
          </a:p>
          <a:p>
            <a:pPr algn="l">
              <a:lnSpc>
                <a:spcPct val="112000"/>
              </a:lnSpc>
            </a:pPr>
            <a:r>
              <a:rPr sz="839" b="0" i="0">
                <a:solidFill>
                  <a:srgbClr val="F2A65A"/>
                </a:solidFill>
                <a:latin typeface="Consolas"/>
                <a:ea typeface="Microsoft YaHei"/>
                <a:cs typeface="Consolas"/>
              </a:rPr>
              <a:t>4309973 </a:t>
            </a:r>
            <a:r>
              <a:rPr sz="839" b="0" i="0">
                <a:solidFill>
                  <a:srgbClr val="5B95F7"/>
                </a:solidFill>
                <a:latin typeface="Consolas"/>
                <a:ea typeface="Microsoft YaHei"/>
                <a:cs typeface="Consolas"/>
              </a:rPr>
              <a:t>bench</a:t>
            </a:r>
            <a:r>
              <a:rPr sz="839" b="0" i="0">
                <a:solidFill>
                  <a:srgbClr val="D8E2F5"/>
                </a:solidFill>
                <a:latin typeface="Consolas"/>
                <a:ea typeface="Microsoft YaHei"/>
                <a:cs typeface="Consolas"/>
              </a:rPr>
              <a:t>: 性能测量驱动改用 GZG 编写（run_bench.gzg），Python 仅用于画图；docs: 全项目…</a:t>
            </a:r>
          </a:p>
        </p:txBody>
      </p:sp>
      <p:sp>
        <p:nvSpPr>
          <p:cNvPr id="21" name="Oval 20"/>
          <p:cNvSpPr/>
          <p:nvPr/>
        </p:nvSpPr>
        <p:spPr>
          <a:xfrm>
            <a:off x="7446645" y="2441956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75245" y="2331720"/>
            <a:ext cx="3718179" cy="4907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先定接口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先写头文件固定接口，核心与内建库并行开发</a:t>
            </a:r>
          </a:p>
        </p:txBody>
      </p:sp>
      <p:sp>
        <p:nvSpPr>
          <p:cNvPr id="23" name="Oval 22"/>
          <p:cNvSpPr/>
          <p:nvPr/>
        </p:nvSpPr>
        <p:spPr>
          <a:xfrm>
            <a:off x="7446645" y="3042919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5245" y="2932683"/>
            <a:ext cx="3718179" cy="4907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黑盒测试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独立 Agent 只看文档编写，发现的问题回到解释器修复</a:t>
            </a:r>
          </a:p>
        </p:txBody>
      </p:sp>
      <p:sp>
        <p:nvSpPr>
          <p:cNvPr id="25" name="Oval 24"/>
          <p:cNvSpPr/>
          <p:nvPr/>
        </p:nvSpPr>
        <p:spPr>
          <a:xfrm>
            <a:off x="7446645" y="3643882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75245" y="3533646"/>
            <a:ext cx="3718179" cy="4907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应用开发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另一个 Agent 只读 Skill，按阶段提交</a:t>
            </a:r>
          </a:p>
        </p:txBody>
      </p:sp>
      <p:sp>
        <p:nvSpPr>
          <p:cNvPr id="27" name="Oval 26"/>
          <p:cNvSpPr/>
          <p:nvPr/>
        </p:nvSpPr>
        <p:spPr>
          <a:xfrm>
            <a:off x="7446645" y="4244845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75245" y="4134609"/>
            <a:ext cx="3718179" cy="4907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质量手段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全部测试 + GC 压力模式双跑；覆盖率 94.4%</a:t>
            </a:r>
          </a:p>
        </p:txBody>
      </p:sp>
      <p:sp>
        <p:nvSpPr>
          <p:cNvPr id="29" name="Oval 28"/>
          <p:cNvSpPr/>
          <p:nvPr/>
        </p:nvSpPr>
        <p:spPr>
          <a:xfrm>
            <a:off x="7446645" y="4845808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75245" y="4735572"/>
            <a:ext cx="3718179" cy="4907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可复现</a:t>
            </a:r>
            <a:r>
              <a:rPr sz="14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性能对比先校验输出一致；开发记录写明每一步</a:t>
            </a:r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0"/>
                            </p:stCondLst>
                            <p:childTnLst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70"/>
                            </p:stCondLst>
                            <p:childTnLst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70"/>
                            </p:stCondLst>
                            <p:childTnLst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70"/>
                            </p:stCondLst>
                            <p:childTnLst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70"/>
                            </p:stCondLst>
                            <p:childTnLst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40"/>
                            </p:stCondLst>
                            <p:childTnLst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10"/>
                            </p:stCondLst>
                            <p:childTnLst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10"/>
                            </p:stCondLst>
                            <p:childTnLst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6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10"/>
                            </p:stCondLst>
                            <p:childTnLst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6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10"/>
                            </p:stCondLst>
                            <p:childTnLst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6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80"/>
                            </p:stCondLst>
                            <p:childTnLst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6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80"/>
                            </p:stCondLst>
                            <p:childTnLst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6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80"/>
                            </p:stCondLst>
                            <p:childTnLst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6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680"/>
                            </p:stCondLst>
                            <p:childTnLst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6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50"/>
                            </p:stCondLst>
                            <p:childTnLst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6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50"/>
                            </p:stCondLst>
                            <p:childTnLst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e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8640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04088" y="384048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FFFFFF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04088" y="539496"/>
            <a:ext cx="118872" cy="118872"/>
          </a:xfrm>
          <a:prstGeom prst="roundRect">
            <a:avLst>
              <a:gd name="adj" fmla="val 25000"/>
            </a:avLst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291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GZG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9855" y="329184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Build a language,</a:t>
            </a:r>
          </a:p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prove it 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097280"/>
            <a:ext cx="121916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000" b="0" i="0" spc="3000">
                <a:solidFill>
                  <a:srgbClr val="FFFFFF"/>
                </a:solidFill>
                <a:latin typeface="Georgia"/>
                <a:ea typeface="STZhongsong"/>
                <a:cs typeface="Georgia"/>
              </a:rPr>
              <a:t>谢谢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148840"/>
            <a:ext cx="1219169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500" b="0" i="0" spc="400">
                <a:solidFill>
                  <a:srgbClr val="A9CBFF"/>
                </a:solidFill>
                <a:latin typeface="Georgia"/>
                <a:ea typeface="Georgia"/>
                <a:cs typeface="Georgia"/>
              </a:rPr>
              <a:t>Questions welcome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2834640"/>
            <a:ext cx="7772400" cy="2926080"/>
          </a:xfrm>
          <a:prstGeom prst="roundRect">
            <a:avLst>
              <a:gd name="adj" fmla="val 5000"/>
            </a:avLst>
          </a:prstGeom>
          <a:solidFill>
            <a:srgbClr val="050A1E">
              <a:alpha val="45000"/>
            </a:srgbClr>
          </a:solidFill>
          <a:ln w="9525">
            <a:solidFill>
              <a:srgbClr val="FFFFFF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60320" y="3227070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88920" y="3108960"/>
            <a:ext cx="6903720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语言</a:t>
            </a:r>
            <a:r>
              <a:rPr sz="15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双语关键字、插值、match、管道、命名参数，报错会教你改</a:t>
            </a:r>
          </a:p>
        </p:txBody>
      </p:sp>
      <p:sp>
        <p:nvSpPr>
          <p:cNvPr id="14" name="Oval 13"/>
          <p:cNvSpPr/>
          <p:nvPr/>
        </p:nvSpPr>
        <p:spPr>
          <a:xfrm>
            <a:off x="2560320" y="3608070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3489960"/>
            <a:ext cx="6903720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sz="15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7,897 行 C99，单遍编译 + computed goto 虚拟机 + 标记清除 GC</a:t>
            </a:r>
          </a:p>
        </p:txBody>
      </p:sp>
      <p:sp>
        <p:nvSpPr>
          <p:cNvPr id="16" name="Oval 15"/>
          <p:cNvSpPr/>
          <p:nvPr/>
        </p:nvSpPr>
        <p:spPr>
          <a:xfrm>
            <a:off x="2560320" y="4251960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4133850"/>
            <a:ext cx="6903720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测试</a:t>
            </a:r>
            <a:r>
              <a:rPr sz="15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327 个 GZG 编写的黑盒测试一键运行，覆盖率 94.4%</a:t>
            </a:r>
          </a:p>
        </p:txBody>
      </p:sp>
      <p:sp>
        <p:nvSpPr>
          <p:cNvPr id="18" name="Oval 17"/>
          <p:cNvSpPr/>
          <p:nvPr/>
        </p:nvSpPr>
        <p:spPr>
          <a:xfrm>
            <a:off x="2560320" y="4632960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4514850"/>
            <a:ext cx="6903720" cy="262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性能</a:t>
            </a:r>
            <a:r>
              <a:rPr sz="15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9 组用例几何平均比 CPython 快 1.41 倍，弱项有根因分析</a:t>
            </a:r>
          </a:p>
        </p:txBody>
      </p:sp>
      <p:sp>
        <p:nvSpPr>
          <p:cNvPr id="20" name="Oval 19"/>
          <p:cNvSpPr/>
          <p:nvPr/>
        </p:nvSpPr>
        <p:spPr>
          <a:xfrm>
            <a:off x="2560320" y="5013960"/>
            <a:ext cx="64008" cy="64008"/>
          </a:xfrm>
          <a:prstGeom prst="ellipse">
            <a:avLst/>
          </a:prstGeom>
          <a:solidFill>
            <a:srgbClr val="E25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4895850"/>
            <a:ext cx="6903720" cy="52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A9CBFF"/>
                </a:solidFill>
                <a:latin typeface="Microsoft YaHei"/>
                <a:ea typeface="Microsoft YaHei"/>
                <a:cs typeface="Microsoft YaHei"/>
              </a:rPr>
              <a:t>AI</a:t>
            </a:r>
            <a:r>
              <a:rPr sz="1500" b="0" i="0">
                <a:solidFill>
                  <a:srgbClr val="E6ECF8"/>
                </a:solidFill>
                <a:latin typeface="Microsoft YaHei"/>
                <a:ea typeface="Microsoft YaHei"/>
                <a:cs typeface="Microsoft YaHei"/>
              </a:rPr>
              <a:t>  新 Agent 只读 Skill 文档写出 925 行的 2048 + AI，开发记录反哺文档</a:t>
            </a:r>
          </a:p>
        </p:txBody>
      </p:sp>
    </p:spTree>
  </p:cSld>
  <p:clrMapOvr>
    <a:masterClrMapping/>
  </p:clrMapOvr>
  <p:transition xmlns:p14="http://schemas.microsoft.com/office/powerpoint/2010/main" spd="slow" p14:dur="7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" dur="1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" dur="6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0"/>
                            </p:stCondLst>
                            <p:childTnLst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40"/>
                            </p:stCondLst>
                            <p:childTnLst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10"/>
                            </p:stCondLst>
                            <p:childTnLst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10"/>
                            </p:stCondLst>
                            <p:childTnLst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6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10"/>
                            </p:stCondLst>
                            <p:childTnLst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6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10"/>
                            </p:stCondLst>
                            <p:childTnLst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6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80"/>
                            </p:stCondLst>
                            <p:childTnLst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6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680"/>
                            </p:stCondLst>
                            <p:childTnLst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6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80"/>
                            </p:stCondLst>
                            <p:childTnLst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6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80"/>
                            </p:stCondLst>
                            <p:childTnLst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6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850"/>
                            </p:stCondLst>
                            <p:childTnLst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6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850"/>
                            </p:stCondLst>
                            <p:childTnLst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6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